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>
            <a:alphaModFix amt="3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548640"/>
            <a:ext cx="1828800" cy="1828800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457200" y="24688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spc="800" kern="0" dirty="0">
                <a:solidFill>
                  <a:srgbClr val="C3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NEWSCORE AI</a:t>
            </a:r>
            <a:endParaRPr lang="en-US" sz="4400" dirty="0"/>
          </a:p>
        </p:txBody>
      </p:sp>
      <p:sp>
        <p:nvSpPr>
          <p:cNvPr id="7" name="Text 1"/>
          <p:cNvSpPr/>
          <p:nvPr/>
        </p:nvSpPr>
        <p:spPr>
          <a:xfrm>
            <a:off x="6263640" y="2468880"/>
            <a:ext cx="365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C3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</a:t>
            </a:r>
            <a:endParaRPr lang="en-US" sz="4400" dirty="0"/>
          </a:p>
        </p:txBody>
      </p:sp>
      <p:sp>
        <p:nvSpPr>
          <p:cNvPr id="8" name="Text 2"/>
          <p:cNvSpPr/>
          <p:nvPr/>
        </p:nvSpPr>
        <p:spPr>
          <a:xfrm>
            <a:off x="914400" y="3200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Персонализированный AI-дайджест деловых новостей</a:t>
            </a:r>
            <a:endParaRPr lang="en-US" sz="1600" dirty="0"/>
          </a:p>
        </p:txBody>
      </p:sp>
      <p:sp>
        <p:nvSpPr>
          <p:cNvPr id="9" name="Text 3"/>
          <p:cNvSpPr/>
          <p:nvPr/>
        </p:nvSpPr>
        <p:spPr>
          <a:xfrm>
            <a:off x="914400" y="3931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3FF00">
                    <a:alpha val="6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Евразийское рейтинговое агентство  ×  ИТМО (ФТМИ)</a:t>
            </a:r>
            <a:endParaRPr lang="en-US" sz="1200" dirty="0"/>
          </a:p>
        </p:txBody>
      </p:sp>
      <p:sp>
        <p:nvSpPr>
          <p:cNvPr id="10" name="Shape 4"/>
          <p:cNvSpPr/>
          <p:nvPr/>
        </p:nvSpPr>
        <p:spPr>
          <a:xfrm>
            <a:off x="1371600" y="4663440"/>
            <a:ext cx="6400800" cy="0"/>
          </a:xfrm>
          <a:prstGeom prst="line">
            <a:avLst/>
          </a:prstGeom>
          <a:noFill/>
          <a:ln w="6350">
            <a:solidFill>
              <a:srgbClr val="C3FF00"/>
            </a:solidFill>
            <a:prstDash val="solid"/>
          </a:ln>
        </p:spPr>
      </p:sp>
      <p:sp>
        <p:nvSpPr>
          <p:cNvPr id="11" name="Text 5"/>
          <p:cNvSpPr/>
          <p:nvPr/>
        </p:nvSpPr>
        <p:spPr>
          <a:xfrm>
            <a:off x="914400" y="4709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апрель 2026 // программный инженер — Мария Махмудова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5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74320" y="1371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3FF00">
                    <a:alpha val="6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3200" dirty="0"/>
          </a:p>
        </p:txBody>
      </p:sp>
      <p:sp>
        <p:nvSpPr>
          <p:cNvPr id="5" name="Text 1"/>
          <p:cNvSpPr/>
          <p:nvPr/>
        </p:nvSpPr>
        <p:spPr>
          <a:xfrm>
            <a:off x="1097280" y="1828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400" kern="0" dirty="0">
                <a:solidFill>
                  <a:srgbClr val="C3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ПРОБЛЕМА</a:t>
            </a:r>
            <a:endParaRPr lang="en-US" sz="2800" dirty="0"/>
          </a:p>
        </p:txBody>
      </p:sp>
      <p:sp>
        <p:nvSpPr>
          <p:cNvPr id="6" name="Text 2"/>
          <p:cNvSpPr/>
          <p:nvPr/>
        </p:nvSpPr>
        <p:spPr>
          <a:xfrm>
            <a:off x="457200" y="9144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Информационный перегруз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457200" y="146304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3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777240" y="14630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Десятки новостных источников без единой точки входа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18745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3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777240" y="18745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потока — шум, кликбейт, повторы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457200" y="228600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3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777240" y="22860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времени фильтровать и систематизировать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457200" y="269748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3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777240" y="26974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Разрозненность данных для принятия решений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57200" y="3291840"/>
            <a:ext cx="3931920" cy="640080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57200" y="3291840"/>
            <a:ext cx="109728" cy="0"/>
          </a:xfrm>
          <a:prstGeom prst="line">
            <a:avLst/>
          </a:prstGeom>
          <a:noFill/>
          <a:ln w="19050">
            <a:solidFill>
              <a:srgbClr val="C3FF00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57200" y="3291840"/>
            <a:ext cx="0" cy="109728"/>
          </a:xfrm>
          <a:prstGeom prst="line">
            <a:avLst/>
          </a:prstGeom>
          <a:noFill/>
          <a:ln w="19050">
            <a:solidFill>
              <a:srgbClr val="C3FF00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4279392" y="3291840"/>
            <a:ext cx="109728" cy="0"/>
          </a:xfrm>
          <a:prstGeom prst="line">
            <a:avLst/>
          </a:prstGeom>
          <a:noFill/>
          <a:ln w="19050">
            <a:solidFill>
              <a:srgbClr val="C3FF00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389120" y="3291840"/>
            <a:ext cx="0" cy="109728"/>
          </a:xfrm>
          <a:prstGeom prst="line">
            <a:avLst/>
          </a:prstGeom>
          <a:noFill/>
          <a:ln w="19050">
            <a:solidFill>
              <a:srgbClr val="C3FF00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457200" y="3822192"/>
            <a:ext cx="0" cy="109728"/>
          </a:xfrm>
          <a:prstGeom prst="line">
            <a:avLst/>
          </a:prstGeom>
          <a:noFill/>
          <a:ln w="19050">
            <a:solidFill>
              <a:srgbClr val="C3FF00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457200" y="3931920"/>
            <a:ext cx="109728" cy="0"/>
          </a:xfrm>
          <a:prstGeom prst="line">
            <a:avLst/>
          </a:prstGeom>
          <a:noFill/>
          <a:ln w="19050">
            <a:solidFill>
              <a:srgbClr val="C3FF00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4279392" y="3931920"/>
            <a:ext cx="109728" cy="0"/>
          </a:xfrm>
          <a:prstGeom prst="line">
            <a:avLst/>
          </a:prstGeom>
          <a:noFill/>
          <a:ln w="19050">
            <a:solidFill>
              <a:srgbClr val="C3FF00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4389120" y="3822192"/>
            <a:ext cx="0" cy="109728"/>
          </a:xfrm>
          <a:prstGeom prst="line">
            <a:avLst/>
          </a:prstGeom>
          <a:noFill/>
          <a:ln w="19050">
            <a:solidFill>
              <a:srgbClr val="C3FF00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40080" y="33375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3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за 10 минут получить всё важное за день — без лишнего?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457200" y="4069080"/>
            <a:ext cx="1280160" cy="868680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57200" y="409651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3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~2.5ч</a:t>
            </a:r>
            <a:endParaRPr lang="en-US" sz="2200" dirty="0"/>
          </a:p>
        </p:txBody>
      </p:sp>
      <p:sp>
        <p:nvSpPr>
          <p:cNvPr id="27" name="Text 23"/>
          <p:cNvSpPr/>
          <p:nvPr/>
        </p:nvSpPr>
        <p:spPr>
          <a:xfrm>
            <a:off x="457200" y="4462272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день на чтение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новостей</a:t>
            </a:r>
            <a:endParaRPr lang="en-US" sz="800" dirty="0"/>
          </a:p>
        </p:txBody>
      </p:sp>
      <p:sp>
        <p:nvSpPr>
          <p:cNvPr id="28" name="Shape 24"/>
          <p:cNvSpPr/>
          <p:nvPr/>
        </p:nvSpPr>
        <p:spPr>
          <a:xfrm>
            <a:off x="1874520" y="4069080"/>
            <a:ext cx="1280160" cy="868680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1874520" y="409651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3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60%</a:t>
            </a:r>
            <a:endParaRPr lang="en-US" sz="2200" dirty="0"/>
          </a:p>
        </p:txBody>
      </p:sp>
      <p:sp>
        <p:nvSpPr>
          <p:cNvPr id="30" name="Text 26"/>
          <p:cNvSpPr/>
          <p:nvPr/>
        </p:nvSpPr>
        <p:spPr>
          <a:xfrm>
            <a:off x="1874520" y="4462272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недовольны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агрегаторами</a:t>
            </a:r>
            <a:endParaRPr lang="en-US" sz="800" dirty="0"/>
          </a:p>
        </p:txBody>
      </p:sp>
      <p:sp>
        <p:nvSpPr>
          <p:cNvPr id="31" name="Shape 27"/>
          <p:cNvSpPr/>
          <p:nvPr/>
        </p:nvSpPr>
        <p:spPr>
          <a:xfrm>
            <a:off x="3291840" y="4069080"/>
            <a:ext cx="1280160" cy="868680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3291840" y="409651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3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25М</a:t>
            </a:r>
            <a:endParaRPr lang="en-US" sz="2200" dirty="0"/>
          </a:p>
        </p:txBody>
      </p:sp>
      <p:sp>
        <p:nvSpPr>
          <p:cNvPr id="33" name="Text 29"/>
          <p:cNvSpPr/>
          <p:nvPr/>
        </p:nvSpPr>
        <p:spPr>
          <a:xfrm>
            <a:off x="3291840" y="4462272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пользователей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деловых медиа РФ</a:t>
            </a:r>
            <a:endParaRPr lang="en-US" sz="800" dirty="0"/>
          </a:p>
        </p:txBody>
      </p:sp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754880" y="822960"/>
            <a:ext cx="41148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5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74320" y="1371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3FF00">
                    <a:alpha val="6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3200" dirty="0"/>
          </a:p>
        </p:txBody>
      </p:sp>
      <p:sp>
        <p:nvSpPr>
          <p:cNvPr id="5" name="Text 1"/>
          <p:cNvSpPr/>
          <p:nvPr/>
        </p:nvSpPr>
        <p:spPr>
          <a:xfrm>
            <a:off x="1097280" y="1828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400" kern="0" dirty="0">
                <a:solidFill>
                  <a:srgbClr val="C3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РЕШЕНИЕ</a:t>
            </a:r>
            <a:endParaRPr lang="en-US" sz="2800" dirty="0"/>
          </a:p>
        </p:txBody>
      </p:sp>
      <p:sp>
        <p:nvSpPr>
          <p:cNvPr id="6" name="Text 2"/>
          <p:cNvSpPr/>
          <p:nvPr/>
        </p:nvSpPr>
        <p:spPr>
          <a:xfrm>
            <a:off x="457200" y="822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3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NewsCore AI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мобильное приложение, которое собирает новости из проверенных источников, очищает от шума, суммаризирует с помощью ИИ и доставляет персонализированный дайджест.</a:t>
            </a:r>
            <a:endParaRPr lang="en-US" sz="14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274320" y="1554480"/>
            <a:ext cx="4754880" cy="271576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212080" y="1554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3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КАТЕГОРИЙ КОНТЕНТА</a:t>
            </a:r>
            <a:endParaRPr lang="en-US" sz="1200" dirty="0"/>
          </a:p>
        </p:txBody>
      </p:sp>
      <p:sp>
        <p:nvSpPr>
          <p:cNvPr id="9" name="Shape 4"/>
          <p:cNvSpPr/>
          <p:nvPr/>
        </p:nvSpPr>
        <p:spPr>
          <a:xfrm>
            <a:off x="5212080" y="1965960"/>
            <a:ext cx="3657600" cy="438912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5212080" y="1965960"/>
            <a:ext cx="54864" cy="438912"/>
          </a:xfrm>
          <a:prstGeom prst="rect">
            <a:avLst/>
          </a:prstGeom>
          <a:solidFill>
            <a:srgbClr val="C3FF00"/>
          </a:solidFill>
          <a:ln/>
        </p:spPr>
      </p:sp>
      <p:sp>
        <p:nvSpPr>
          <p:cNvPr id="11" name="Text 6"/>
          <p:cNvSpPr/>
          <p:nvPr/>
        </p:nvSpPr>
        <p:spPr>
          <a:xfrm>
            <a:off x="5394960" y="1984248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Аналитика и рейтинги</a:t>
            </a:r>
            <a:endParaRPr lang="en-US" sz="1000" dirty="0"/>
          </a:p>
        </p:txBody>
      </p:sp>
      <p:sp>
        <p:nvSpPr>
          <p:cNvPr id="12" name="Text 7"/>
          <p:cNvSpPr/>
          <p:nvPr/>
        </p:nvSpPr>
        <p:spPr>
          <a:xfrm>
            <a:off x="5394960" y="2185416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Инвесторы, фин. директора</a:t>
            </a:r>
            <a:endParaRPr lang="en-US" sz="800" dirty="0"/>
          </a:p>
        </p:txBody>
      </p:sp>
      <p:sp>
        <p:nvSpPr>
          <p:cNvPr id="13" name="Shape 8"/>
          <p:cNvSpPr/>
          <p:nvPr/>
        </p:nvSpPr>
        <p:spPr>
          <a:xfrm>
            <a:off x="5212080" y="2478024"/>
            <a:ext cx="3657600" cy="438912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5212080" y="2478024"/>
            <a:ext cx="54864" cy="438912"/>
          </a:xfrm>
          <a:prstGeom prst="rect">
            <a:avLst/>
          </a:prstGeom>
          <a:solidFill>
            <a:srgbClr val="C3FF00"/>
          </a:solidFill>
          <a:ln/>
        </p:spPr>
      </p:sp>
      <p:sp>
        <p:nvSpPr>
          <p:cNvPr id="15" name="Text 10"/>
          <p:cNvSpPr/>
          <p:nvPr/>
        </p:nvSpPr>
        <p:spPr>
          <a:xfrm>
            <a:off x="5394960" y="2496312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Исследования и мнения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5394960" y="269748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Стратеги, консультанты</a:t>
            </a:r>
            <a:endParaRPr lang="en-US" sz="800" dirty="0"/>
          </a:p>
        </p:txBody>
      </p:sp>
      <p:sp>
        <p:nvSpPr>
          <p:cNvPr id="17" name="Shape 12"/>
          <p:cNvSpPr/>
          <p:nvPr/>
        </p:nvSpPr>
        <p:spPr>
          <a:xfrm>
            <a:off x="5212080" y="2990088"/>
            <a:ext cx="3657600" cy="438912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5212080" y="2990088"/>
            <a:ext cx="54864" cy="438912"/>
          </a:xfrm>
          <a:prstGeom prst="rect">
            <a:avLst/>
          </a:prstGeom>
          <a:solidFill>
            <a:srgbClr val="C3FF00"/>
          </a:solidFill>
          <a:ln/>
        </p:spPr>
      </p:sp>
      <p:sp>
        <p:nvSpPr>
          <p:cNvPr id="19" name="Text 14"/>
          <p:cNvSpPr/>
          <p:nvPr/>
        </p:nvSpPr>
        <p:spPr>
          <a:xfrm>
            <a:off x="5394960" y="3008376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Регуляторика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394960" y="3209544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Юристы, compliance</a:t>
            </a:r>
            <a:endParaRPr lang="en-US" sz="800" dirty="0"/>
          </a:p>
        </p:txBody>
      </p:sp>
      <p:sp>
        <p:nvSpPr>
          <p:cNvPr id="21" name="Shape 16"/>
          <p:cNvSpPr/>
          <p:nvPr/>
        </p:nvSpPr>
        <p:spPr>
          <a:xfrm>
            <a:off x="5212080" y="3502152"/>
            <a:ext cx="3657600" cy="438912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5212080" y="3502152"/>
            <a:ext cx="54864" cy="438912"/>
          </a:xfrm>
          <a:prstGeom prst="rect">
            <a:avLst/>
          </a:prstGeom>
          <a:solidFill>
            <a:srgbClr val="C3FF00"/>
          </a:solidFill>
          <a:ln/>
        </p:spPr>
      </p:sp>
      <p:sp>
        <p:nvSpPr>
          <p:cNvPr id="23" name="Text 18"/>
          <p:cNvSpPr/>
          <p:nvPr/>
        </p:nvSpPr>
        <p:spPr>
          <a:xfrm>
            <a:off x="5394960" y="3520440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Перспективы рынка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5394960" y="3721608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Предприниматели, венчур</a:t>
            </a:r>
            <a:endParaRPr lang="en-US" sz="800" dirty="0"/>
          </a:p>
        </p:txBody>
      </p:sp>
      <p:sp>
        <p:nvSpPr>
          <p:cNvPr id="25" name="Shape 20"/>
          <p:cNvSpPr/>
          <p:nvPr/>
        </p:nvSpPr>
        <p:spPr>
          <a:xfrm>
            <a:off x="5212080" y="4014216"/>
            <a:ext cx="3657600" cy="438912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5212080" y="4014216"/>
            <a:ext cx="54864" cy="438912"/>
          </a:xfrm>
          <a:prstGeom prst="rect">
            <a:avLst/>
          </a:prstGeom>
          <a:solidFill>
            <a:srgbClr val="C3FF00"/>
          </a:solidFill>
          <a:ln/>
        </p:spPr>
      </p:sp>
      <p:sp>
        <p:nvSpPr>
          <p:cNvPr id="27" name="Text 22"/>
          <p:cNvSpPr/>
          <p:nvPr/>
        </p:nvSpPr>
        <p:spPr>
          <a:xfrm>
            <a:off x="5394960" y="4032504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Рынок, инвестиции, валюта</a:t>
            </a:r>
            <a:endParaRPr lang="en-US" sz="1000" dirty="0"/>
          </a:p>
        </p:txBody>
      </p:sp>
      <p:sp>
        <p:nvSpPr>
          <p:cNvPr id="28" name="Text 23"/>
          <p:cNvSpPr/>
          <p:nvPr/>
        </p:nvSpPr>
        <p:spPr>
          <a:xfrm>
            <a:off x="5394960" y="4233672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Трейдеры, частные инвесторы</a:t>
            </a:r>
            <a:endParaRPr lang="en-US" sz="800" dirty="0"/>
          </a:p>
        </p:txBody>
      </p:sp>
      <p:sp>
        <p:nvSpPr>
          <p:cNvPr id="29" name="Shape 24"/>
          <p:cNvSpPr/>
          <p:nvPr/>
        </p:nvSpPr>
        <p:spPr>
          <a:xfrm>
            <a:off x="457200" y="4434840"/>
            <a:ext cx="8412480" cy="502920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457200" y="4434840"/>
            <a:ext cx="91440" cy="0"/>
          </a:xfrm>
          <a:prstGeom prst="line">
            <a:avLst/>
          </a:prstGeom>
          <a:noFill/>
          <a:ln w="19050">
            <a:solidFill>
              <a:srgbClr val="C3FF00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457200" y="4434840"/>
            <a:ext cx="0" cy="91440"/>
          </a:xfrm>
          <a:prstGeom prst="line">
            <a:avLst/>
          </a:prstGeom>
          <a:noFill/>
          <a:ln w="19050">
            <a:solidFill>
              <a:srgbClr val="C3FF00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8778240" y="4434840"/>
            <a:ext cx="91440" cy="0"/>
          </a:xfrm>
          <a:prstGeom prst="line">
            <a:avLst/>
          </a:prstGeom>
          <a:noFill/>
          <a:ln w="19050">
            <a:solidFill>
              <a:srgbClr val="C3FF00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8869680" y="4434840"/>
            <a:ext cx="0" cy="91440"/>
          </a:xfrm>
          <a:prstGeom prst="line">
            <a:avLst/>
          </a:prstGeom>
          <a:noFill/>
          <a:ln w="19050">
            <a:solidFill>
              <a:srgbClr val="C3FF00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457200" y="4846320"/>
            <a:ext cx="0" cy="91440"/>
          </a:xfrm>
          <a:prstGeom prst="line">
            <a:avLst/>
          </a:prstGeom>
          <a:noFill/>
          <a:ln w="19050">
            <a:solidFill>
              <a:srgbClr val="C3FF00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457200" y="4937760"/>
            <a:ext cx="91440" cy="0"/>
          </a:xfrm>
          <a:prstGeom prst="line">
            <a:avLst/>
          </a:prstGeom>
          <a:noFill/>
          <a:ln w="19050">
            <a:solidFill>
              <a:srgbClr val="C3FF00"/>
            </a:solidFill>
            <a:prstDash val="solid"/>
          </a:ln>
        </p:spPr>
      </p:sp>
      <p:sp>
        <p:nvSpPr>
          <p:cNvPr id="36" name="Shape 31"/>
          <p:cNvSpPr/>
          <p:nvPr/>
        </p:nvSpPr>
        <p:spPr>
          <a:xfrm>
            <a:off x="8778240" y="4937760"/>
            <a:ext cx="91440" cy="0"/>
          </a:xfrm>
          <a:prstGeom prst="line">
            <a:avLst/>
          </a:prstGeom>
          <a:noFill/>
          <a:ln w="19050">
            <a:solidFill>
              <a:srgbClr val="C3FF00"/>
            </a:solidFill>
            <a:prstDash val="solid"/>
          </a:ln>
        </p:spPr>
      </p:sp>
      <p:sp>
        <p:nvSpPr>
          <p:cNvPr id="37" name="Shape 32"/>
          <p:cNvSpPr/>
          <p:nvPr/>
        </p:nvSpPr>
        <p:spPr>
          <a:xfrm>
            <a:off x="8869680" y="4846320"/>
            <a:ext cx="0" cy="91440"/>
          </a:xfrm>
          <a:prstGeom prst="line">
            <a:avLst/>
          </a:prstGeom>
          <a:noFill/>
          <a:ln w="19050">
            <a:solidFill>
              <a:srgbClr val="C3FF00"/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640080" y="446227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3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Новости не генерируются — они берутся с авторитетных сайтов и сжимаются. Источник и ссылка на оригинал всегда сохраняются.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5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74320" y="1371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3FF00">
                    <a:alpha val="6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3200" dirty="0"/>
          </a:p>
        </p:txBody>
      </p:sp>
      <p:sp>
        <p:nvSpPr>
          <p:cNvPr id="5" name="Text 1"/>
          <p:cNvSpPr/>
          <p:nvPr/>
        </p:nvSpPr>
        <p:spPr>
          <a:xfrm>
            <a:off x="1097280" y="1828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400" kern="0" dirty="0">
                <a:solidFill>
                  <a:srgbClr val="C3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ЦЕЛЕВАЯ АУДИТОРИЯ</a:t>
            </a:r>
            <a:endParaRPr lang="en-US" sz="280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274320" y="822960"/>
            <a:ext cx="4572000" cy="2615184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029200" y="868680"/>
            <a:ext cx="3840480" cy="566928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8" name="Shape 3"/>
          <p:cNvSpPr/>
          <p:nvPr/>
        </p:nvSpPr>
        <p:spPr>
          <a:xfrm>
            <a:off x="5029200" y="868680"/>
            <a:ext cx="54864" cy="566928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9" name="Text 4"/>
          <p:cNvSpPr/>
          <p:nvPr/>
        </p:nvSpPr>
        <p:spPr>
          <a:xfrm>
            <a:off x="5212080" y="90525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Инвестор / трейдер</a:t>
            </a:r>
            <a:endParaRPr lang="en-US" sz="1100" dirty="0"/>
          </a:p>
        </p:txBody>
      </p:sp>
      <p:sp>
        <p:nvSpPr>
          <p:cNvPr id="10" name="Text 5"/>
          <p:cNvSpPr/>
          <p:nvPr/>
        </p:nvSpPr>
        <p:spPr>
          <a:xfrm>
            <a:off x="8046720" y="905256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25–45 лет</a:t>
            </a:r>
            <a:endParaRPr lang="en-US" sz="800" dirty="0"/>
          </a:p>
        </p:txBody>
      </p:sp>
      <p:sp>
        <p:nvSpPr>
          <p:cNvPr id="11" name="Text 6"/>
          <p:cNvSpPr/>
          <p:nvPr/>
        </p:nvSpPr>
        <p:spPr>
          <a:xfrm>
            <a:off x="5212080" y="114300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Разрозненность источников, нет единой картины</a:t>
            </a:r>
            <a:endParaRPr lang="en-US" sz="900" dirty="0"/>
          </a:p>
        </p:txBody>
      </p:sp>
      <p:sp>
        <p:nvSpPr>
          <p:cNvPr id="12" name="Shape 7"/>
          <p:cNvSpPr/>
          <p:nvPr/>
        </p:nvSpPr>
        <p:spPr>
          <a:xfrm>
            <a:off x="5029200" y="1508760"/>
            <a:ext cx="3840480" cy="566928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5029200" y="1508760"/>
            <a:ext cx="54864" cy="566928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14" name="Text 9"/>
          <p:cNvSpPr/>
          <p:nvPr/>
        </p:nvSpPr>
        <p:spPr>
          <a:xfrm>
            <a:off x="5212080" y="154533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Владелец МСБ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8046720" y="1545336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30–55 лет</a:t>
            </a:r>
            <a:endParaRPr lang="en-US" sz="800" dirty="0"/>
          </a:p>
        </p:txBody>
      </p:sp>
      <p:sp>
        <p:nvSpPr>
          <p:cNvPr id="16" name="Text 11"/>
          <p:cNvSpPr/>
          <p:nvPr/>
        </p:nvSpPr>
        <p:spPr>
          <a:xfrm>
            <a:off x="5212080" y="178308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успевает следить за регуляторикой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5029200" y="2148840"/>
            <a:ext cx="3840480" cy="566928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5029200" y="2148840"/>
            <a:ext cx="54864" cy="566928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19" name="Text 14"/>
          <p:cNvSpPr/>
          <p:nvPr/>
        </p:nvSpPr>
        <p:spPr>
          <a:xfrm>
            <a:off x="5212080" y="218541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Корпоративный аналитик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8046720" y="2185416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28–45 лет</a:t>
            </a:r>
            <a:endParaRPr lang="en-US" sz="800" dirty="0"/>
          </a:p>
        </p:txBody>
      </p:sp>
      <p:sp>
        <p:nvSpPr>
          <p:cNvPr id="21" name="Text 16"/>
          <p:cNvSpPr/>
          <p:nvPr/>
        </p:nvSpPr>
        <p:spPr>
          <a:xfrm>
            <a:off x="5212080" y="242316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Ручная агрегация из разных источников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5029200" y="2788920"/>
            <a:ext cx="3840480" cy="566928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5029200" y="2788920"/>
            <a:ext cx="54864" cy="566928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4" name="Text 19"/>
          <p:cNvSpPr/>
          <p:nvPr/>
        </p:nvSpPr>
        <p:spPr>
          <a:xfrm>
            <a:off x="5212080" y="282549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Топ-менеджер / C-level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8046720" y="2825496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35–60 лет</a:t>
            </a:r>
            <a:endParaRPr lang="en-US" sz="800" dirty="0"/>
          </a:p>
        </p:txBody>
      </p:sp>
      <p:sp>
        <p:nvSpPr>
          <p:cNvPr id="26" name="Text 21"/>
          <p:cNvSpPr/>
          <p:nvPr/>
        </p:nvSpPr>
        <p:spPr>
          <a:xfrm>
            <a:off x="5212080" y="30632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Информационный перегруз при дефиците времени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5029200" y="3520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3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B2B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5029200" y="37947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Евразийское РА  //  Консалтинг  //  Инвест. фонды  //  Пресс-службы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5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74320" y="1371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3FF00">
                    <a:alpha val="6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3200" dirty="0"/>
          </a:p>
        </p:txBody>
      </p:sp>
      <p:sp>
        <p:nvSpPr>
          <p:cNvPr id="5" name="Text 1"/>
          <p:cNvSpPr/>
          <p:nvPr/>
        </p:nvSpPr>
        <p:spPr>
          <a:xfrm>
            <a:off x="1097280" y="1828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400" kern="0" dirty="0">
                <a:solidFill>
                  <a:srgbClr val="C3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JOBS TO BE DONE</a:t>
            </a:r>
            <a:endParaRPr lang="en-US" sz="2800" dirty="0"/>
          </a:p>
        </p:txBody>
      </p:sp>
      <p:sp>
        <p:nvSpPr>
          <p:cNvPr id="6" name="Text 2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когда [ситуация] → я хочу [мотивация] → чтобы [результат]</a:t>
            </a:r>
            <a:endParaRPr lang="en-US" sz="1000" dirty="0"/>
          </a:p>
        </p:txBody>
      </p:sp>
      <p:sp>
        <p:nvSpPr>
          <p:cNvPr id="7" name="Shape 3"/>
          <p:cNvSpPr/>
          <p:nvPr/>
        </p:nvSpPr>
        <p:spPr>
          <a:xfrm>
            <a:off x="457200" y="1143000"/>
            <a:ext cx="8229600" cy="365760"/>
          </a:xfrm>
          <a:prstGeom prst="rect">
            <a:avLst/>
          </a:prstGeom>
          <a:solidFill>
            <a:srgbClr val="C3FF00"/>
          </a:solidFill>
          <a:ln/>
        </p:spPr>
      </p:sp>
      <p:sp>
        <p:nvSpPr>
          <p:cNvPr id="8" name="Text 4"/>
          <p:cNvSpPr/>
          <p:nvPr/>
        </p:nvSpPr>
        <p:spPr>
          <a:xfrm>
            <a:off x="457200" y="1143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822960" y="11430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СИТУАЦИЯ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3383280" y="1143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МОТИВАЦИЯ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6126480" y="11430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РЕЗУЛЬТАТ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457200" y="1508760"/>
            <a:ext cx="8229600" cy="59436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3" name="Text 9"/>
          <p:cNvSpPr/>
          <p:nvPr/>
        </p:nvSpPr>
        <p:spPr>
          <a:xfrm>
            <a:off x="457200" y="1508760"/>
            <a:ext cx="365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3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822960" y="15544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Утро перед рабочим днём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3383280" y="15544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Быстро узнать изменения на рынке за ночь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6126480" y="15544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2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Принять решения по портфелю до торгов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457200" y="2148840"/>
            <a:ext cx="8229600" cy="59436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8" name="Text 14"/>
          <p:cNvSpPr/>
          <p:nvPr/>
        </p:nvSpPr>
        <p:spPr>
          <a:xfrm>
            <a:off x="457200" y="2148840"/>
            <a:ext cx="365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3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822960" y="21945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Подготовка к встрече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3383280" y="21945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Быть в курсе трендов отрасли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6126480" y="21945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2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Выглядеть компетентно без часов ресёрча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457200" y="2788920"/>
            <a:ext cx="8229600" cy="59436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3" name="Text 19"/>
          <p:cNvSpPr/>
          <p:nvPr/>
        </p:nvSpPr>
        <p:spPr>
          <a:xfrm>
            <a:off x="457200" y="2788920"/>
            <a:ext cx="365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3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0"/>
          <p:cNvSpPr/>
          <p:nvPr/>
        </p:nvSpPr>
        <p:spPr>
          <a:xfrm>
            <a:off x="822960" y="28346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Конец рабочей недели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3383280" y="28346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Сформировать картину за неделю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6126480" y="28346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2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Качественно планировать дальше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457200" y="3429000"/>
            <a:ext cx="8229600" cy="59436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28" name="Text 24"/>
          <p:cNvSpPr/>
          <p:nvPr/>
        </p:nvSpPr>
        <p:spPr>
          <a:xfrm>
            <a:off x="457200" y="3429000"/>
            <a:ext cx="365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3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5"/>
          <p:cNvSpPr/>
          <p:nvPr/>
        </p:nvSpPr>
        <p:spPr>
          <a:xfrm>
            <a:off x="822960" y="34747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Изменение регуляторики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3383280" y="34747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Мгновенно узнать о новых законах</a:t>
            </a:r>
            <a:endParaRPr lang="en-US" sz="1000" dirty="0"/>
          </a:p>
        </p:txBody>
      </p:sp>
      <p:sp>
        <p:nvSpPr>
          <p:cNvPr id="31" name="Text 27"/>
          <p:cNvSpPr/>
          <p:nvPr/>
        </p:nvSpPr>
        <p:spPr>
          <a:xfrm>
            <a:off x="6126480" y="34747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2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пропустить критичное для бизнеса</a:t>
            </a:r>
            <a:endParaRPr lang="en-US" sz="1000" dirty="0"/>
          </a:p>
        </p:txBody>
      </p:sp>
      <p:sp>
        <p:nvSpPr>
          <p:cNvPr id="32" name="Shape 28"/>
          <p:cNvSpPr/>
          <p:nvPr/>
        </p:nvSpPr>
        <p:spPr>
          <a:xfrm>
            <a:off x="457200" y="4069080"/>
            <a:ext cx="8229600" cy="59436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3" name="Text 29"/>
          <p:cNvSpPr/>
          <p:nvPr/>
        </p:nvSpPr>
        <p:spPr>
          <a:xfrm>
            <a:off x="457200" y="4069080"/>
            <a:ext cx="365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3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400" dirty="0"/>
          </a:p>
        </p:txBody>
      </p:sp>
      <p:sp>
        <p:nvSpPr>
          <p:cNvPr id="34" name="Text 30"/>
          <p:cNvSpPr/>
          <p:nvPr/>
        </p:nvSpPr>
        <p:spPr>
          <a:xfrm>
            <a:off x="822960" y="41148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Долгосрочное планирование</a:t>
            </a:r>
            <a:endParaRPr lang="en-US" sz="1000" dirty="0"/>
          </a:p>
        </p:txBody>
      </p:sp>
      <p:sp>
        <p:nvSpPr>
          <p:cNvPr id="35" name="Text 31"/>
          <p:cNvSpPr/>
          <p:nvPr/>
        </p:nvSpPr>
        <p:spPr>
          <a:xfrm>
            <a:off x="3383280" y="41148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Анализировать рыночные тренды</a:t>
            </a:r>
            <a:endParaRPr lang="en-US" sz="1000" dirty="0"/>
          </a:p>
        </p:txBody>
      </p:sp>
      <p:sp>
        <p:nvSpPr>
          <p:cNvPr id="36" name="Text 32"/>
          <p:cNvSpPr/>
          <p:nvPr/>
        </p:nvSpPr>
        <p:spPr>
          <a:xfrm>
            <a:off x="6126480" y="41148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2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Стратегически обоснованные решения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5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74320" y="1371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3FF00">
                    <a:alpha val="6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3200" dirty="0"/>
          </a:p>
        </p:txBody>
      </p:sp>
      <p:sp>
        <p:nvSpPr>
          <p:cNvPr id="5" name="Text 1"/>
          <p:cNvSpPr/>
          <p:nvPr/>
        </p:nvSpPr>
        <p:spPr>
          <a:xfrm>
            <a:off x="1097280" y="1828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400" kern="0" dirty="0">
                <a:solidFill>
                  <a:srgbClr val="C3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РЫНОК И КОНКУРЕНТЫ</a:t>
            </a:r>
            <a:endParaRPr lang="en-US" sz="280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274320" y="777240"/>
            <a:ext cx="4572000" cy="2615184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5029200" y="7772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3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НАШЕ ПРЕИМУЩЕСТВО</a:t>
            </a:r>
            <a:endParaRPr lang="en-US" sz="1200" dirty="0"/>
          </a:p>
        </p:txBody>
      </p:sp>
      <p:sp>
        <p:nvSpPr>
          <p:cNvPr id="8" name="Text 3"/>
          <p:cNvSpPr/>
          <p:nvPr/>
        </p:nvSpPr>
        <p:spPr>
          <a:xfrm>
            <a:off x="5029200" y="118872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3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5303520" y="11887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Единственный продукт с AI-суммаризацией + глубокой персонализацией на российском деловом рынке</a:t>
            </a:r>
            <a:endParaRPr lang="en-US" sz="1000" dirty="0"/>
          </a:p>
        </p:txBody>
      </p:sp>
      <p:sp>
        <p:nvSpPr>
          <p:cNvPr id="10" name="Text 5"/>
          <p:cNvSpPr/>
          <p:nvPr/>
        </p:nvSpPr>
        <p:spPr>
          <a:xfrm>
            <a:off x="5029200" y="169164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3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5303520" y="16916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Институциональное партнёрство с Евразийским РА — уникальный экспертный контент</a:t>
            </a:r>
            <a:endParaRPr lang="en-US" sz="1000" dirty="0"/>
          </a:p>
        </p:txBody>
      </p:sp>
      <p:sp>
        <p:nvSpPr>
          <p:cNvPr id="12" name="Text 7"/>
          <p:cNvSpPr/>
          <p:nvPr/>
        </p:nvSpPr>
        <p:spPr>
          <a:xfrm>
            <a:off x="5029200" y="219456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3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5303520" y="21945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агрегатор заголовков, а дайджест смыслов</a:t>
            </a:r>
            <a:endParaRPr lang="en-US" sz="1000" dirty="0"/>
          </a:p>
        </p:txBody>
      </p:sp>
      <p:sp>
        <p:nvSpPr>
          <p:cNvPr id="14" name="Text 9"/>
          <p:cNvSpPr/>
          <p:nvPr/>
        </p:nvSpPr>
        <p:spPr>
          <a:xfrm>
            <a:off x="457200" y="3566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3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TAM / SAM / SOM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457200" y="3931920"/>
            <a:ext cx="2651760" cy="960120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457200" y="3931920"/>
            <a:ext cx="91440" cy="0"/>
          </a:xfrm>
          <a:prstGeom prst="line">
            <a:avLst/>
          </a:prstGeom>
          <a:noFill/>
          <a:ln w="19050">
            <a:solidFill>
              <a:srgbClr val="C3FF00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457200" y="3931920"/>
            <a:ext cx="0" cy="91440"/>
          </a:xfrm>
          <a:prstGeom prst="line">
            <a:avLst/>
          </a:prstGeom>
          <a:noFill/>
          <a:ln w="19050">
            <a:solidFill>
              <a:srgbClr val="C3FF00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3017520" y="3931920"/>
            <a:ext cx="91440" cy="0"/>
          </a:xfrm>
          <a:prstGeom prst="line">
            <a:avLst/>
          </a:prstGeom>
          <a:noFill/>
          <a:ln w="19050">
            <a:solidFill>
              <a:srgbClr val="C3FF00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3108960" y="3931920"/>
            <a:ext cx="0" cy="91440"/>
          </a:xfrm>
          <a:prstGeom prst="line">
            <a:avLst/>
          </a:prstGeom>
          <a:noFill/>
          <a:ln w="19050">
            <a:solidFill>
              <a:srgbClr val="C3FF00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457200" y="4800600"/>
            <a:ext cx="0" cy="91440"/>
          </a:xfrm>
          <a:prstGeom prst="line">
            <a:avLst/>
          </a:prstGeom>
          <a:noFill/>
          <a:ln w="19050">
            <a:solidFill>
              <a:srgbClr val="C3FF00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457200" y="4892040"/>
            <a:ext cx="91440" cy="0"/>
          </a:xfrm>
          <a:prstGeom prst="line">
            <a:avLst/>
          </a:prstGeom>
          <a:noFill/>
          <a:ln w="19050">
            <a:solidFill>
              <a:srgbClr val="C3FF00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3017520" y="4892040"/>
            <a:ext cx="91440" cy="0"/>
          </a:xfrm>
          <a:prstGeom prst="line">
            <a:avLst/>
          </a:prstGeom>
          <a:noFill/>
          <a:ln w="19050">
            <a:solidFill>
              <a:srgbClr val="C3FF00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3108960" y="4800600"/>
            <a:ext cx="0" cy="91440"/>
          </a:xfrm>
          <a:prstGeom prst="line">
            <a:avLst/>
          </a:prstGeom>
          <a:noFill/>
          <a:ln w="19050">
            <a:solidFill>
              <a:srgbClr val="C3FF00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594360" y="39776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3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TAM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594360" y="42062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~15 млрд ₽/год</a:t>
            </a:r>
            <a:endParaRPr lang="en-US" sz="1800" dirty="0"/>
          </a:p>
        </p:txBody>
      </p:sp>
      <p:sp>
        <p:nvSpPr>
          <p:cNvPr id="26" name="Text 21"/>
          <p:cNvSpPr/>
          <p:nvPr/>
        </p:nvSpPr>
        <p:spPr>
          <a:xfrm>
            <a:off x="594360" y="44805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рынок деловых цифровых медиа РФ</a:t>
            </a:r>
            <a:endParaRPr lang="en-US" sz="800" dirty="0"/>
          </a:p>
        </p:txBody>
      </p:sp>
      <p:sp>
        <p:nvSpPr>
          <p:cNvPr id="27" name="Shape 22"/>
          <p:cNvSpPr/>
          <p:nvPr/>
        </p:nvSpPr>
        <p:spPr>
          <a:xfrm>
            <a:off x="3291840" y="3931920"/>
            <a:ext cx="2651760" cy="960120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3291840" y="3931920"/>
            <a:ext cx="91440" cy="0"/>
          </a:xfrm>
          <a:prstGeom prst="line">
            <a:avLst/>
          </a:prstGeom>
          <a:noFill/>
          <a:ln w="19050">
            <a:solidFill>
              <a:srgbClr val="C3FF00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3291840" y="3931920"/>
            <a:ext cx="0" cy="91440"/>
          </a:xfrm>
          <a:prstGeom prst="line">
            <a:avLst/>
          </a:prstGeom>
          <a:noFill/>
          <a:ln w="19050">
            <a:solidFill>
              <a:srgbClr val="C3FF00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5852160" y="3931920"/>
            <a:ext cx="91440" cy="0"/>
          </a:xfrm>
          <a:prstGeom prst="line">
            <a:avLst/>
          </a:prstGeom>
          <a:noFill/>
          <a:ln w="19050">
            <a:solidFill>
              <a:srgbClr val="C3FF00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5943600" y="3931920"/>
            <a:ext cx="0" cy="91440"/>
          </a:xfrm>
          <a:prstGeom prst="line">
            <a:avLst/>
          </a:prstGeom>
          <a:noFill/>
          <a:ln w="19050">
            <a:solidFill>
              <a:srgbClr val="C3FF00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3291840" y="4800600"/>
            <a:ext cx="0" cy="91440"/>
          </a:xfrm>
          <a:prstGeom prst="line">
            <a:avLst/>
          </a:prstGeom>
          <a:noFill/>
          <a:ln w="19050">
            <a:solidFill>
              <a:srgbClr val="C3FF00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3291840" y="4892040"/>
            <a:ext cx="91440" cy="0"/>
          </a:xfrm>
          <a:prstGeom prst="line">
            <a:avLst/>
          </a:prstGeom>
          <a:noFill/>
          <a:ln w="19050">
            <a:solidFill>
              <a:srgbClr val="C3FF00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5852160" y="4892040"/>
            <a:ext cx="91440" cy="0"/>
          </a:xfrm>
          <a:prstGeom prst="line">
            <a:avLst/>
          </a:prstGeom>
          <a:noFill/>
          <a:ln w="19050">
            <a:solidFill>
              <a:srgbClr val="C3FF00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5943600" y="4800600"/>
            <a:ext cx="0" cy="91440"/>
          </a:xfrm>
          <a:prstGeom prst="line">
            <a:avLst/>
          </a:prstGeom>
          <a:noFill/>
          <a:ln w="19050">
            <a:solidFill>
              <a:srgbClr val="C3FF00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3429000" y="39776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3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</a:t>
            </a:r>
            <a:endParaRPr lang="en-US" sz="1400" dirty="0"/>
          </a:p>
        </p:txBody>
      </p:sp>
      <p:sp>
        <p:nvSpPr>
          <p:cNvPr id="37" name="Text 32"/>
          <p:cNvSpPr/>
          <p:nvPr/>
        </p:nvSpPr>
        <p:spPr>
          <a:xfrm>
            <a:off x="3429000" y="42062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~3 млрд ₽/год</a:t>
            </a:r>
            <a:endParaRPr lang="en-US" sz="1800" dirty="0"/>
          </a:p>
        </p:txBody>
      </p:sp>
      <p:sp>
        <p:nvSpPr>
          <p:cNvPr id="38" name="Text 33"/>
          <p:cNvSpPr/>
          <p:nvPr/>
        </p:nvSpPr>
        <p:spPr>
          <a:xfrm>
            <a:off x="3429000" y="44805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платные подписки на деловой контент</a:t>
            </a:r>
            <a:endParaRPr lang="en-US" sz="800" dirty="0"/>
          </a:p>
        </p:txBody>
      </p:sp>
      <p:sp>
        <p:nvSpPr>
          <p:cNvPr id="39" name="Shape 34"/>
          <p:cNvSpPr/>
          <p:nvPr/>
        </p:nvSpPr>
        <p:spPr>
          <a:xfrm>
            <a:off x="6126480" y="3931920"/>
            <a:ext cx="2651760" cy="960120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40" name="Shape 35"/>
          <p:cNvSpPr/>
          <p:nvPr/>
        </p:nvSpPr>
        <p:spPr>
          <a:xfrm>
            <a:off x="6126480" y="3931920"/>
            <a:ext cx="91440" cy="0"/>
          </a:xfrm>
          <a:prstGeom prst="line">
            <a:avLst/>
          </a:prstGeom>
          <a:noFill/>
          <a:ln w="19050">
            <a:solidFill>
              <a:srgbClr val="C3FF00"/>
            </a:solidFill>
            <a:prstDash val="solid"/>
          </a:ln>
        </p:spPr>
      </p:sp>
      <p:sp>
        <p:nvSpPr>
          <p:cNvPr id="41" name="Shape 36"/>
          <p:cNvSpPr/>
          <p:nvPr/>
        </p:nvSpPr>
        <p:spPr>
          <a:xfrm>
            <a:off x="6126480" y="3931920"/>
            <a:ext cx="0" cy="91440"/>
          </a:xfrm>
          <a:prstGeom prst="line">
            <a:avLst/>
          </a:prstGeom>
          <a:noFill/>
          <a:ln w="19050">
            <a:solidFill>
              <a:srgbClr val="C3FF00"/>
            </a:solidFill>
            <a:prstDash val="solid"/>
          </a:ln>
        </p:spPr>
      </p:sp>
      <p:sp>
        <p:nvSpPr>
          <p:cNvPr id="42" name="Shape 37"/>
          <p:cNvSpPr/>
          <p:nvPr/>
        </p:nvSpPr>
        <p:spPr>
          <a:xfrm>
            <a:off x="8686800" y="3931920"/>
            <a:ext cx="91440" cy="0"/>
          </a:xfrm>
          <a:prstGeom prst="line">
            <a:avLst/>
          </a:prstGeom>
          <a:noFill/>
          <a:ln w="19050">
            <a:solidFill>
              <a:srgbClr val="C3FF00"/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8778240" y="3931920"/>
            <a:ext cx="0" cy="91440"/>
          </a:xfrm>
          <a:prstGeom prst="line">
            <a:avLst/>
          </a:prstGeom>
          <a:noFill/>
          <a:ln w="19050">
            <a:solidFill>
              <a:srgbClr val="C3FF00"/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6126480" y="4800600"/>
            <a:ext cx="0" cy="91440"/>
          </a:xfrm>
          <a:prstGeom prst="line">
            <a:avLst/>
          </a:prstGeom>
          <a:noFill/>
          <a:ln w="19050">
            <a:solidFill>
              <a:srgbClr val="C3FF00"/>
            </a:solidFill>
            <a:prstDash val="solid"/>
          </a:ln>
        </p:spPr>
      </p:sp>
      <p:sp>
        <p:nvSpPr>
          <p:cNvPr id="45" name="Shape 40"/>
          <p:cNvSpPr/>
          <p:nvPr/>
        </p:nvSpPr>
        <p:spPr>
          <a:xfrm>
            <a:off x="6126480" y="4892040"/>
            <a:ext cx="91440" cy="0"/>
          </a:xfrm>
          <a:prstGeom prst="line">
            <a:avLst/>
          </a:prstGeom>
          <a:noFill/>
          <a:ln w="19050">
            <a:solidFill>
              <a:srgbClr val="C3FF00"/>
            </a:solidFill>
            <a:prstDash val="solid"/>
          </a:ln>
        </p:spPr>
      </p:sp>
      <p:sp>
        <p:nvSpPr>
          <p:cNvPr id="46" name="Shape 41"/>
          <p:cNvSpPr/>
          <p:nvPr/>
        </p:nvSpPr>
        <p:spPr>
          <a:xfrm>
            <a:off x="8686800" y="4892040"/>
            <a:ext cx="91440" cy="0"/>
          </a:xfrm>
          <a:prstGeom prst="line">
            <a:avLst/>
          </a:prstGeom>
          <a:noFill/>
          <a:ln w="19050">
            <a:solidFill>
              <a:srgbClr val="C3FF00"/>
            </a:solidFill>
            <a:prstDash val="solid"/>
          </a:ln>
        </p:spPr>
      </p:sp>
      <p:sp>
        <p:nvSpPr>
          <p:cNvPr id="47" name="Shape 42"/>
          <p:cNvSpPr/>
          <p:nvPr/>
        </p:nvSpPr>
        <p:spPr>
          <a:xfrm>
            <a:off x="8778240" y="4800600"/>
            <a:ext cx="0" cy="91440"/>
          </a:xfrm>
          <a:prstGeom prst="line">
            <a:avLst/>
          </a:prstGeom>
          <a:noFill/>
          <a:ln w="19050">
            <a:solidFill>
              <a:srgbClr val="C3FF00"/>
            </a:solidFill>
            <a:prstDash val="solid"/>
          </a:ln>
        </p:spPr>
      </p:sp>
      <p:sp>
        <p:nvSpPr>
          <p:cNvPr id="48" name="Text 43"/>
          <p:cNvSpPr/>
          <p:nvPr/>
        </p:nvSpPr>
        <p:spPr>
          <a:xfrm>
            <a:off x="6263640" y="39776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3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SOM</a:t>
            </a:r>
            <a:endParaRPr lang="en-US" sz="1400" dirty="0"/>
          </a:p>
        </p:txBody>
      </p:sp>
      <p:sp>
        <p:nvSpPr>
          <p:cNvPr id="49" name="Text 44"/>
          <p:cNvSpPr/>
          <p:nvPr/>
        </p:nvSpPr>
        <p:spPr>
          <a:xfrm>
            <a:off x="6263640" y="42062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~300 млн ₽/год</a:t>
            </a:r>
            <a:endParaRPr lang="en-US" sz="1800" dirty="0"/>
          </a:p>
        </p:txBody>
      </p:sp>
      <p:sp>
        <p:nvSpPr>
          <p:cNvPr id="50" name="Text 45"/>
          <p:cNvSpPr/>
          <p:nvPr/>
        </p:nvSpPr>
        <p:spPr>
          <a:xfrm>
            <a:off x="6263640" y="44805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горизонт 3 лет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5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74320" y="1371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3FF00">
                    <a:alpha val="6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3200" dirty="0"/>
          </a:p>
        </p:txBody>
      </p:sp>
      <p:sp>
        <p:nvSpPr>
          <p:cNvPr id="5" name="Text 1"/>
          <p:cNvSpPr/>
          <p:nvPr/>
        </p:nvSpPr>
        <p:spPr>
          <a:xfrm>
            <a:off x="1097280" y="1828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400" kern="0" dirty="0">
                <a:solidFill>
                  <a:srgbClr val="C3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ТЕХНОЛОГИЧЕСКИЙ СТЕК</a:t>
            </a:r>
            <a:endParaRPr lang="en-US" sz="2800" dirty="0"/>
          </a:p>
        </p:txBody>
      </p:sp>
      <p:sp>
        <p:nvSpPr>
          <p:cNvPr id="6" name="Shape 2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solidFill>
            <a:srgbClr val="C3FF00"/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7772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УРОВЕНЬ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2468880" y="777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ТЕХНОЛОГИЯ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5212080" y="7772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ОБОСНОВАНИЕ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365760" y="1097280"/>
            <a:ext cx="8412480" cy="27432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1" name="Text 7"/>
          <p:cNvSpPr/>
          <p:nvPr/>
        </p:nvSpPr>
        <p:spPr>
          <a:xfrm>
            <a:off x="457200" y="10972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2468880" y="1097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3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React Native 0.74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5212080" y="10972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Одна кодовая база iOS + Android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365760" y="1371600"/>
            <a:ext cx="8412480" cy="27432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5" name="Text 11"/>
          <p:cNvSpPr/>
          <p:nvPr/>
        </p:nvSpPr>
        <p:spPr>
          <a:xfrm>
            <a:off x="457200" y="13716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2468880" y="1371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3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3.12 + FastAPI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5212080" y="13716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Тот же язык, что и AI/ML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365760" y="1645920"/>
            <a:ext cx="8412480" cy="27432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9" name="Text 15"/>
          <p:cNvSpPr/>
          <p:nvPr/>
        </p:nvSpPr>
        <p:spPr>
          <a:xfrm>
            <a:off x="457200" y="16459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Основная БД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2468880" y="1645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3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PostgreSQL 16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5212080" y="16459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JSONB, ACID, надёжность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365760" y="1920240"/>
            <a:ext cx="8412480" cy="27432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23" name="Text 19"/>
          <p:cNvSpPr/>
          <p:nvPr/>
        </p:nvSpPr>
        <p:spPr>
          <a:xfrm>
            <a:off x="457200" y="19202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Поиск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2468880" y="1920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3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Elasticsearch 8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5212080" y="19202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Full-text по архиву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365760" y="2194560"/>
            <a:ext cx="8412480" cy="27432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7" name="Text 23"/>
          <p:cNvSpPr/>
          <p:nvPr/>
        </p:nvSpPr>
        <p:spPr>
          <a:xfrm>
            <a:off x="457200" y="21945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Кэш / очереди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2468880" y="2194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3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Redis 7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5212080" y="21945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Скорость + брокер задач</a:t>
            </a:r>
            <a:endParaRPr lang="en-US" sz="900" dirty="0"/>
          </a:p>
        </p:txBody>
      </p:sp>
      <p:sp>
        <p:nvSpPr>
          <p:cNvPr id="30" name="Shape 26"/>
          <p:cNvSpPr/>
          <p:nvPr/>
        </p:nvSpPr>
        <p:spPr>
          <a:xfrm>
            <a:off x="365760" y="2468880"/>
            <a:ext cx="8412480" cy="27432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1" name="Text 27"/>
          <p:cNvSpPr/>
          <p:nvPr/>
        </p:nvSpPr>
        <p:spPr>
          <a:xfrm>
            <a:off x="457200" y="24688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Фоновые задачи</a:t>
            </a:r>
            <a:endParaRPr lang="en-US" sz="900" dirty="0"/>
          </a:p>
        </p:txBody>
      </p:sp>
      <p:sp>
        <p:nvSpPr>
          <p:cNvPr id="32" name="Text 28"/>
          <p:cNvSpPr/>
          <p:nvPr/>
        </p:nvSpPr>
        <p:spPr>
          <a:xfrm>
            <a:off x="2468880" y="2468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3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Celery</a:t>
            </a:r>
            <a:endParaRPr lang="en-US" sz="900" dirty="0"/>
          </a:p>
        </p:txBody>
      </p:sp>
      <p:sp>
        <p:nvSpPr>
          <p:cNvPr id="33" name="Text 29"/>
          <p:cNvSpPr/>
          <p:nvPr/>
        </p:nvSpPr>
        <p:spPr>
          <a:xfrm>
            <a:off x="5212080" y="24688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Парсинг и AI-обработка</a:t>
            </a:r>
            <a:endParaRPr lang="en-US" sz="900" dirty="0"/>
          </a:p>
        </p:txBody>
      </p:sp>
      <p:sp>
        <p:nvSpPr>
          <p:cNvPr id="34" name="Shape 30"/>
          <p:cNvSpPr/>
          <p:nvPr/>
        </p:nvSpPr>
        <p:spPr>
          <a:xfrm>
            <a:off x="365760" y="2743200"/>
            <a:ext cx="8412480" cy="27432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5" name="Text 31"/>
          <p:cNvSpPr/>
          <p:nvPr/>
        </p:nvSpPr>
        <p:spPr>
          <a:xfrm>
            <a:off x="457200" y="27432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Парсинг</a:t>
            </a:r>
            <a:endParaRPr lang="en-US" sz="900" dirty="0"/>
          </a:p>
        </p:txBody>
      </p:sp>
      <p:sp>
        <p:nvSpPr>
          <p:cNvPr id="36" name="Text 32"/>
          <p:cNvSpPr/>
          <p:nvPr/>
        </p:nvSpPr>
        <p:spPr>
          <a:xfrm>
            <a:off x="2468880" y="2743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3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Scrapy + Playwright</a:t>
            </a:r>
            <a:endParaRPr lang="en-US" sz="900" dirty="0"/>
          </a:p>
        </p:txBody>
      </p:sp>
      <p:sp>
        <p:nvSpPr>
          <p:cNvPr id="37" name="Text 33"/>
          <p:cNvSpPr/>
          <p:nvPr/>
        </p:nvSpPr>
        <p:spPr>
          <a:xfrm>
            <a:off x="5212080" y="27432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Масштабируемый зрелый стек</a:t>
            </a:r>
            <a:endParaRPr lang="en-US" sz="900" dirty="0"/>
          </a:p>
        </p:txBody>
      </p:sp>
      <p:sp>
        <p:nvSpPr>
          <p:cNvPr id="38" name="Shape 34"/>
          <p:cNvSpPr/>
          <p:nvPr/>
        </p:nvSpPr>
        <p:spPr>
          <a:xfrm>
            <a:off x="365760" y="3017520"/>
            <a:ext cx="8412480" cy="27432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9" name="Text 35"/>
          <p:cNvSpPr/>
          <p:nvPr/>
        </p:nvSpPr>
        <p:spPr>
          <a:xfrm>
            <a:off x="457200" y="3017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900" dirty="0"/>
          </a:p>
        </p:txBody>
      </p:sp>
      <p:sp>
        <p:nvSpPr>
          <p:cNvPr id="40" name="Text 36"/>
          <p:cNvSpPr/>
          <p:nvPr/>
        </p:nvSpPr>
        <p:spPr>
          <a:xfrm>
            <a:off x="2468880" y="3017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3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YandexGPT Pro API</a:t>
            </a:r>
            <a:endParaRPr lang="en-US" sz="900" dirty="0"/>
          </a:p>
        </p:txBody>
      </p:sp>
      <p:sp>
        <p:nvSpPr>
          <p:cNvPr id="41" name="Text 37"/>
          <p:cNvSpPr/>
          <p:nvPr/>
        </p:nvSpPr>
        <p:spPr>
          <a:xfrm>
            <a:off x="5212080" y="30175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РФ-рынок, без санкц. рисков</a:t>
            </a:r>
            <a:endParaRPr lang="en-US" sz="900" dirty="0"/>
          </a:p>
        </p:txBody>
      </p:sp>
      <p:sp>
        <p:nvSpPr>
          <p:cNvPr id="42" name="Shape 38"/>
          <p:cNvSpPr/>
          <p:nvPr/>
        </p:nvSpPr>
        <p:spPr>
          <a:xfrm>
            <a:off x="365760" y="3291840"/>
            <a:ext cx="8412480" cy="27432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43" name="Text 39"/>
          <p:cNvSpPr/>
          <p:nvPr/>
        </p:nvSpPr>
        <p:spPr>
          <a:xfrm>
            <a:off x="457200" y="32918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Классификация</a:t>
            </a:r>
            <a:endParaRPr lang="en-US" sz="900" dirty="0"/>
          </a:p>
        </p:txBody>
      </p:sp>
      <p:sp>
        <p:nvSpPr>
          <p:cNvPr id="44" name="Text 40"/>
          <p:cNvSpPr/>
          <p:nvPr/>
        </p:nvSpPr>
        <p:spPr>
          <a:xfrm>
            <a:off x="2468880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3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ruBERT (fine-tuned)</a:t>
            </a:r>
            <a:endParaRPr lang="en-US" sz="900" dirty="0"/>
          </a:p>
        </p:txBody>
      </p:sp>
      <p:sp>
        <p:nvSpPr>
          <p:cNvPr id="45" name="Text 41"/>
          <p:cNvSpPr/>
          <p:nvPr/>
        </p:nvSpPr>
        <p:spPr>
          <a:xfrm>
            <a:off x="5212080" y="32918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Лучшее качество рус. текста</a:t>
            </a:r>
            <a:endParaRPr lang="en-US" sz="900" dirty="0"/>
          </a:p>
        </p:txBody>
      </p:sp>
      <p:sp>
        <p:nvSpPr>
          <p:cNvPr id="46" name="Shape 42"/>
          <p:cNvSpPr/>
          <p:nvPr/>
        </p:nvSpPr>
        <p:spPr>
          <a:xfrm>
            <a:off x="365760" y="3566160"/>
            <a:ext cx="8412480" cy="27432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47" name="Text 43"/>
          <p:cNvSpPr/>
          <p:nvPr/>
        </p:nvSpPr>
        <p:spPr>
          <a:xfrm>
            <a:off x="457200" y="35661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</a:t>
            </a:r>
            <a:endParaRPr lang="en-US" sz="900" dirty="0"/>
          </a:p>
        </p:txBody>
      </p:sp>
      <p:sp>
        <p:nvSpPr>
          <p:cNvPr id="48" name="Text 44"/>
          <p:cNvSpPr/>
          <p:nvPr/>
        </p:nvSpPr>
        <p:spPr>
          <a:xfrm>
            <a:off x="2468880" y="3566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3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natasha + slovnet</a:t>
            </a:r>
            <a:endParaRPr lang="en-US" sz="900" dirty="0"/>
          </a:p>
        </p:txBody>
      </p:sp>
      <p:sp>
        <p:nvSpPr>
          <p:cNvPr id="49" name="Text 45"/>
          <p:cNvSpPr/>
          <p:nvPr/>
        </p:nvSpPr>
        <p:spPr>
          <a:xfrm>
            <a:off x="5212080" y="35661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Российские сущности</a:t>
            </a:r>
            <a:endParaRPr lang="en-US" sz="900" dirty="0"/>
          </a:p>
        </p:txBody>
      </p:sp>
      <p:sp>
        <p:nvSpPr>
          <p:cNvPr id="50" name="Shape 46"/>
          <p:cNvSpPr/>
          <p:nvPr/>
        </p:nvSpPr>
        <p:spPr>
          <a:xfrm>
            <a:off x="365760" y="3840480"/>
            <a:ext cx="8412480" cy="27432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51" name="Text 47"/>
          <p:cNvSpPr/>
          <p:nvPr/>
        </p:nvSpPr>
        <p:spPr>
          <a:xfrm>
            <a:off x="457200" y="38404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Важность</a:t>
            </a:r>
            <a:endParaRPr lang="en-US" sz="900" dirty="0"/>
          </a:p>
        </p:txBody>
      </p:sp>
      <p:sp>
        <p:nvSpPr>
          <p:cNvPr id="52" name="Text 48"/>
          <p:cNvSpPr/>
          <p:nvPr/>
        </p:nvSpPr>
        <p:spPr>
          <a:xfrm>
            <a:off x="2468880" y="3840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3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LightGBM</a:t>
            </a:r>
            <a:endParaRPr lang="en-US" sz="900" dirty="0"/>
          </a:p>
        </p:txBody>
      </p:sp>
      <p:sp>
        <p:nvSpPr>
          <p:cNvPr id="53" name="Text 49"/>
          <p:cNvSpPr/>
          <p:nvPr/>
        </p:nvSpPr>
        <p:spPr>
          <a:xfrm>
            <a:off x="5212080" y="3840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Быстрый инференс</a:t>
            </a:r>
            <a:endParaRPr lang="en-US" sz="900" dirty="0"/>
          </a:p>
        </p:txBody>
      </p:sp>
      <p:sp>
        <p:nvSpPr>
          <p:cNvPr id="54" name="Shape 50"/>
          <p:cNvSpPr/>
          <p:nvPr/>
        </p:nvSpPr>
        <p:spPr>
          <a:xfrm>
            <a:off x="365760" y="4114800"/>
            <a:ext cx="8412480" cy="27432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55" name="Text 51"/>
          <p:cNvSpPr/>
          <p:nvPr/>
        </p:nvSpPr>
        <p:spPr>
          <a:xfrm>
            <a:off x="457200" y="4114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Облако</a:t>
            </a:r>
            <a:endParaRPr lang="en-US" sz="900" dirty="0"/>
          </a:p>
        </p:txBody>
      </p:sp>
      <p:sp>
        <p:nvSpPr>
          <p:cNvPr id="56" name="Text 52"/>
          <p:cNvSpPr/>
          <p:nvPr/>
        </p:nvSpPr>
        <p:spPr>
          <a:xfrm>
            <a:off x="2468880" y="4114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3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Yandex Cloud + K8s</a:t>
            </a:r>
            <a:endParaRPr lang="en-US" sz="900" dirty="0"/>
          </a:p>
        </p:txBody>
      </p:sp>
      <p:sp>
        <p:nvSpPr>
          <p:cNvPr id="57" name="Text 53"/>
          <p:cNvSpPr/>
          <p:nvPr/>
        </p:nvSpPr>
        <p:spPr>
          <a:xfrm>
            <a:off x="5212080" y="41148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санкционных рисков</a:t>
            </a:r>
            <a:endParaRPr lang="en-US" sz="900" dirty="0"/>
          </a:p>
        </p:txBody>
      </p:sp>
      <p:sp>
        <p:nvSpPr>
          <p:cNvPr id="58" name="Shape 54"/>
          <p:cNvSpPr/>
          <p:nvPr/>
        </p:nvSpPr>
        <p:spPr>
          <a:xfrm>
            <a:off x="365760" y="4389120"/>
            <a:ext cx="8412480" cy="27432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59" name="Text 55"/>
          <p:cNvSpPr/>
          <p:nvPr/>
        </p:nvSpPr>
        <p:spPr>
          <a:xfrm>
            <a:off x="457200" y="43891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900" dirty="0"/>
          </a:p>
        </p:txBody>
      </p:sp>
      <p:sp>
        <p:nvSpPr>
          <p:cNvPr id="60" name="Text 56"/>
          <p:cNvSpPr/>
          <p:nvPr/>
        </p:nvSpPr>
        <p:spPr>
          <a:xfrm>
            <a:off x="2468880" y="4389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3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 Actions</a:t>
            </a:r>
            <a:endParaRPr lang="en-US" sz="900" dirty="0"/>
          </a:p>
        </p:txBody>
      </p:sp>
      <p:sp>
        <p:nvSpPr>
          <p:cNvPr id="61" name="Text 57"/>
          <p:cNvSpPr/>
          <p:nvPr/>
        </p:nvSpPr>
        <p:spPr>
          <a:xfrm>
            <a:off x="5212080" y="43891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Стандарт индустрии</a:t>
            </a:r>
            <a:endParaRPr lang="en-US" sz="900" dirty="0"/>
          </a:p>
        </p:txBody>
      </p:sp>
      <p:sp>
        <p:nvSpPr>
          <p:cNvPr id="62" name="Shape 58"/>
          <p:cNvSpPr/>
          <p:nvPr/>
        </p:nvSpPr>
        <p:spPr>
          <a:xfrm>
            <a:off x="365760" y="4663440"/>
            <a:ext cx="8412480" cy="27432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63" name="Text 59"/>
          <p:cNvSpPr/>
          <p:nvPr/>
        </p:nvSpPr>
        <p:spPr>
          <a:xfrm>
            <a:off x="457200" y="46634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Мониторинг</a:t>
            </a:r>
            <a:endParaRPr lang="en-US" sz="900" dirty="0"/>
          </a:p>
        </p:txBody>
      </p:sp>
      <p:sp>
        <p:nvSpPr>
          <p:cNvPr id="64" name="Text 60"/>
          <p:cNvSpPr/>
          <p:nvPr/>
        </p:nvSpPr>
        <p:spPr>
          <a:xfrm>
            <a:off x="2468880" y="4663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3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Grafana + Prometheus</a:t>
            </a:r>
            <a:endParaRPr lang="en-US" sz="900" dirty="0"/>
          </a:p>
        </p:txBody>
      </p:sp>
      <p:sp>
        <p:nvSpPr>
          <p:cNvPr id="65" name="Text 61"/>
          <p:cNvSpPr/>
          <p:nvPr/>
        </p:nvSpPr>
        <p:spPr>
          <a:xfrm>
            <a:off x="5212080" y="46634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Полный observability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5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74320" y="1371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3FF00">
                    <a:alpha val="6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3200" dirty="0"/>
          </a:p>
        </p:txBody>
      </p:sp>
      <p:sp>
        <p:nvSpPr>
          <p:cNvPr id="5" name="Text 1"/>
          <p:cNvSpPr/>
          <p:nvPr/>
        </p:nvSpPr>
        <p:spPr>
          <a:xfrm>
            <a:off x="1097280" y="1828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400" kern="0" dirty="0">
                <a:solidFill>
                  <a:srgbClr val="C3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СИСТЕМНАЯ АРХИТЕКТУРА</a:t>
            </a:r>
            <a:endParaRPr lang="en-US" sz="280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57200" y="822960"/>
            <a:ext cx="8229600" cy="411480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уровня: клиент → backend → data/AI → источники  //  микросервисная архитектура  //  горизонтальное масштабирование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5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74320" y="1371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3FF00">
                    <a:alpha val="6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3200" dirty="0"/>
          </a:p>
        </p:txBody>
      </p:sp>
      <p:sp>
        <p:nvSpPr>
          <p:cNvPr id="5" name="Text 1"/>
          <p:cNvSpPr/>
          <p:nvPr/>
        </p:nvSpPr>
        <p:spPr>
          <a:xfrm>
            <a:off x="1097280" y="1828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400" kern="0" dirty="0">
                <a:solidFill>
                  <a:srgbClr val="C3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AI-ПАЙПЛАЙН</a:t>
            </a:r>
            <a:endParaRPr lang="en-US" sz="2800" dirty="0"/>
          </a:p>
        </p:txBody>
      </p:sp>
      <p:sp>
        <p:nvSpPr>
          <p:cNvPr id="6" name="Text 2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ЯДРО СИСТЕМЫ — здесь создаётся ключевая ценность</a:t>
            </a:r>
            <a:endParaRPr lang="en-US" sz="1000" dirty="0"/>
          </a:p>
        </p:txBody>
      </p:sp>
      <p:sp>
        <p:nvSpPr>
          <p:cNvPr id="7" name="Shape 3"/>
          <p:cNvSpPr/>
          <p:nvPr/>
        </p:nvSpPr>
        <p:spPr>
          <a:xfrm>
            <a:off x="457200" y="1097280"/>
            <a:ext cx="3840480" cy="594360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457200" y="1097280"/>
            <a:ext cx="73152" cy="594360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9" name="Text 5"/>
          <p:cNvSpPr/>
          <p:nvPr/>
        </p:nvSpPr>
        <p:spPr>
          <a:xfrm>
            <a:off x="621792" y="114300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1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554480" y="11155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Парсинг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3108960" y="11430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3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Scrapy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2103120" y="16459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3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457200" y="1874520"/>
            <a:ext cx="3840480" cy="594360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57200" y="1874520"/>
            <a:ext cx="73152" cy="594360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15" name="Text 11"/>
          <p:cNvSpPr/>
          <p:nvPr/>
        </p:nvSpPr>
        <p:spPr>
          <a:xfrm>
            <a:off x="621792" y="192024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2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554480" y="18928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Предобработка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3108960" y="192024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3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trafilatura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2103120" y="2423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3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457200" y="2651760"/>
            <a:ext cx="3840480" cy="594360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457200" y="2651760"/>
            <a:ext cx="73152" cy="59436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21" name="Text 17"/>
          <p:cNvSpPr/>
          <p:nvPr/>
        </p:nvSpPr>
        <p:spPr>
          <a:xfrm>
            <a:off x="621792" y="269748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3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1554480" y="267004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Суммаризация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3108960" y="269748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3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YandexGPT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2103120" y="32004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3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</a:t>
            </a:r>
            <a:endParaRPr lang="en-US" sz="1400" dirty="0"/>
          </a:p>
        </p:txBody>
      </p:sp>
      <p:sp>
        <p:nvSpPr>
          <p:cNvPr id="25" name="Shape 21"/>
          <p:cNvSpPr/>
          <p:nvPr/>
        </p:nvSpPr>
        <p:spPr>
          <a:xfrm>
            <a:off x="457200" y="3429000"/>
            <a:ext cx="3840480" cy="594360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457200" y="3429000"/>
            <a:ext cx="73152" cy="594360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27" name="Text 23"/>
          <p:cNvSpPr/>
          <p:nvPr/>
        </p:nvSpPr>
        <p:spPr>
          <a:xfrm>
            <a:off x="621792" y="347472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4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1554480" y="344728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Классификация</a:t>
            </a:r>
            <a:endParaRPr lang="en-US" sz="1300" dirty="0"/>
          </a:p>
        </p:txBody>
      </p:sp>
      <p:sp>
        <p:nvSpPr>
          <p:cNvPr id="29" name="Text 25"/>
          <p:cNvSpPr/>
          <p:nvPr/>
        </p:nvSpPr>
        <p:spPr>
          <a:xfrm>
            <a:off x="3108960" y="347472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3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ruBERT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4297680" y="25603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3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2000" dirty="0"/>
          </a:p>
        </p:txBody>
      </p:sp>
      <p:sp>
        <p:nvSpPr>
          <p:cNvPr id="31" name="Shape 27"/>
          <p:cNvSpPr/>
          <p:nvPr/>
        </p:nvSpPr>
        <p:spPr>
          <a:xfrm>
            <a:off x="4846320" y="1097280"/>
            <a:ext cx="3840480" cy="594360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4846320" y="1097280"/>
            <a:ext cx="73152" cy="59436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33" name="Text 29"/>
          <p:cNvSpPr/>
          <p:nvPr/>
        </p:nvSpPr>
        <p:spPr>
          <a:xfrm>
            <a:off x="5010912" y="114300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5</a:t>
            </a:r>
            <a:endParaRPr lang="en-US" sz="900" dirty="0"/>
          </a:p>
        </p:txBody>
      </p:sp>
      <p:sp>
        <p:nvSpPr>
          <p:cNvPr id="34" name="Text 30"/>
          <p:cNvSpPr/>
          <p:nvPr/>
        </p:nvSpPr>
        <p:spPr>
          <a:xfrm>
            <a:off x="5943600" y="11155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</a:t>
            </a:r>
            <a:endParaRPr lang="en-US" sz="1300" dirty="0"/>
          </a:p>
        </p:txBody>
      </p:sp>
      <p:sp>
        <p:nvSpPr>
          <p:cNvPr id="35" name="Text 31"/>
          <p:cNvSpPr/>
          <p:nvPr/>
        </p:nvSpPr>
        <p:spPr>
          <a:xfrm>
            <a:off x="7498080" y="11430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3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natasha</a:t>
            </a:r>
            <a:endParaRPr lang="en-US" sz="900" dirty="0"/>
          </a:p>
        </p:txBody>
      </p:sp>
      <p:sp>
        <p:nvSpPr>
          <p:cNvPr id="36" name="Text 32"/>
          <p:cNvSpPr/>
          <p:nvPr/>
        </p:nvSpPr>
        <p:spPr>
          <a:xfrm>
            <a:off x="6492240" y="16459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3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</a:t>
            </a:r>
            <a:endParaRPr lang="en-US" sz="1400" dirty="0"/>
          </a:p>
        </p:txBody>
      </p:sp>
      <p:sp>
        <p:nvSpPr>
          <p:cNvPr id="37" name="Shape 33"/>
          <p:cNvSpPr/>
          <p:nvPr/>
        </p:nvSpPr>
        <p:spPr>
          <a:xfrm>
            <a:off x="4846320" y="1874520"/>
            <a:ext cx="3840480" cy="594360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4846320" y="1874520"/>
            <a:ext cx="73152" cy="59436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9" name="Text 35"/>
          <p:cNvSpPr/>
          <p:nvPr/>
        </p:nvSpPr>
        <p:spPr>
          <a:xfrm>
            <a:off x="5010912" y="192024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6</a:t>
            </a:r>
            <a:endParaRPr lang="en-US" sz="900" dirty="0"/>
          </a:p>
        </p:txBody>
      </p:sp>
      <p:sp>
        <p:nvSpPr>
          <p:cNvPr id="40" name="Text 36"/>
          <p:cNvSpPr/>
          <p:nvPr/>
        </p:nvSpPr>
        <p:spPr>
          <a:xfrm>
            <a:off x="5943600" y="18928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</a:t>
            </a:r>
            <a:endParaRPr lang="en-US" sz="1300" dirty="0"/>
          </a:p>
        </p:txBody>
      </p:sp>
      <p:sp>
        <p:nvSpPr>
          <p:cNvPr id="41" name="Text 37"/>
          <p:cNvSpPr/>
          <p:nvPr/>
        </p:nvSpPr>
        <p:spPr>
          <a:xfrm>
            <a:off x="7498080" y="192024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3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LightGBM</a:t>
            </a:r>
            <a:endParaRPr lang="en-US" sz="900" dirty="0"/>
          </a:p>
        </p:txBody>
      </p:sp>
      <p:sp>
        <p:nvSpPr>
          <p:cNvPr id="42" name="Text 38"/>
          <p:cNvSpPr/>
          <p:nvPr/>
        </p:nvSpPr>
        <p:spPr>
          <a:xfrm>
            <a:off x="6492240" y="2423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3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</a:t>
            </a:r>
            <a:endParaRPr lang="en-US" sz="1400" dirty="0"/>
          </a:p>
        </p:txBody>
      </p:sp>
      <p:sp>
        <p:nvSpPr>
          <p:cNvPr id="43" name="Shape 39"/>
          <p:cNvSpPr/>
          <p:nvPr/>
        </p:nvSpPr>
        <p:spPr>
          <a:xfrm>
            <a:off x="4846320" y="2651760"/>
            <a:ext cx="3840480" cy="594360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>
            <a:off x="4846320" y="2651760"/>
            <a:ext cx="73152" cy="594360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45" name="Text 41"/>
          <p:cNvSpPr/>
          <p:nvPr/>
        </p:nvSpPr>
        <p:spPr>
          <a:xfrm>
            <a:off x="5010912" y="269748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7</a:t>
            </a:r>
            <a:endParaRPr lang="en-US" sz="900" dirty="0"/>
          </a:p>
        </p:txBody>
      </p:sp>
      <p:sp>
        <p:nvSpPr>
          <p:cNvPr id="46" name="Text 42"/>
          <p:cNvSpPr/>
          <p:nvPr/>
        </p:nvSpPr>
        <p:spPr>
          <a:xfrm>
            <a:off x="5943600" y="267004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Запись в БД</a:t>
            </a:r>
            <a:endParaRPr lang="en-US" sz="1300" dirty="0"/>
          </a:p>
        </p:txBody>
      </p:sp>
      <p:sp>
        <p:nvSpPr>
          <p:cNvPr id="47" name="Text 43"/>
          <p:cNvSpPr/>
          <p:nvPr/>
        </p:nvSpPr>
        <p:spPr>
          <a:xfrm>
            <a:off x="7498080" y="269748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3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PostgreSQL</a:t>
            </a:r>
            <a:endParaRPr lang="en-US" sz="900" dirty="0"/>
          </a:p>
        </p:txBody>
      </p:sp>
      <p:sp>
        <p:nvSpPr>
          <p:cNvPr id="48" name="Text 44"/>
          <p:cNvSpPr/>
          <p:nvPr/>
        </p:nvSpPr>
        <p:spPr>
          <a:xfrm>
            <a:off x="457200" y="3794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3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МЕТРИКИ КАЧЕСТВА</a:t>
            </a:r>
            <a:endParaRPr lang="en-US" sz="1000" dirty="0"/>
          </a:p>
        </p:txBody>
      </p:sp>
      <p:sp>
        <p:nvSpPr>
          <p:cNvPr id="49" name="Shape 45"/>
          <p:cNvSpPr/>
          <p:nvPr/>
        </p:nvSpPr>
        <p:spPr>
          <a:xfrm>
            <a:off x="457200" y="4114800"/>
            <a:ext cx="1572768" cy="777240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457200" y="4142232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3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92%</a:t>
            </a:r>
            <a:endParaRPr lang="en-US" sz="1600" dirty="0"/>
          </a:p>
        </p:txBody>
      </p:sp>
      <p:sp>
        <p:nvSpPr>
          <p:cNvPr id="51" name="Text 47"/>
          <p:cNvSpPr/>
          <p:nvPr/>
        </p:nvSpPr>
        <p:spPr>
          <a:xfrm>
            <a:off x="502920" y="4507992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Точность классификации</a:t>
            </a:r>
            <a:endParaRPr lang="en-US" sz="700" dirty="0"/>
          </a:p>
        </p:txBody>
      </p:sp>
      <p:sp>
        <p:nvSpPr>
          <p:cNvPr id="52" name="Shape 48"/>
          <p:cNvSpPr/>
          <p:nvPr/>
        </p:nvSpPr>
        <p:spPr>
          <a:xfrm>
            <a:off x="2148840" y="4114800"/>
            <a:ext cx="1572768" cy="777240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2148840" y="4142232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3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 8 сек</a:t>
            </a:r>
            <a:endParaRPr lang="en-US" sz="1600" dirty="0"/>
          </a:p>
        </p:txBody>
      </p:sp>
      <p:sp>
        <p:nvSpPr>
          <p:cNvPr id="54" name="Text 50"/>
          <p:cNvSpPr/>
          <p:nvPr/>
        </p:nvSpPr>
        <p:spPr>
          <a:xfrm>
            <a:off x="2194560" y="4507992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Обработка статьи</a:t>
            </a:r>
            <a:endParaRPr lang="en-US" sz="700" dirty="0"/>
          </a:p>
        </p:txBody>
      </p:sp>
      <p:sp>
        <p:nvSpPr>
          <p:cNvPr id="55" name="Shape 51"/>
          <p:cNvSpPr/>
          <p:nvPr/>
        </p:nvSpPr>
        <p:spPr>
          <a:xfrm>
            <a:off x="3840480" y="4114800"/>
            <a:ext cx="1572768" cy="777240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56" name="Text 52"/>
          <p:cNvSpPr/>
          <p:nvPr/>
        </p:nvSpPr>
        <p:spPr>
          <a:xfrm>
            <a:off x="3840480" y="4142232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3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0.45</a:t>
            </a:r>
            <a:endParaRPr lang="en-US" sz="1600" dirty="0"/>
          </a:p>
        </p:txBody>
      </p:sp>
      <p:sp>
        <p:nvSpPr>
          <p:cNvPr id="57" name="Text 53"/>
          <p:cNvSpPr/>
          <p:nvPr/>
        </p:nvSpPr>
        <p:spPr>
          <a:xfrm>
            <a:off x="3886200" y="4507992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ROUGE-L</a:t>
            </a:r>
            <a:endParaRPr lang="en-US" sz="700" dirty="0"/>
          </a:p>
        </p:txBody>
      </p:sp>
      <p:sp>
        <p:nvSpPr>
          <p:cNvPr id="58" name="Shape 54"/>
          <p:cNvSpPr/>
          <p:nvPr/>
        </p:nvSpPr>
        <p:spPr>
          <a:xfrm>
            <a:off x="5532120" y="4114800"/>
            <a:ext cx="1572768" cy="777240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59" name="Text 55"/>
          <p:cNvSpPr/>
          <p:nvPr/>
        </p:nvSpPr>
        <p:spPr>
          <a:xfrm>
            <a:off x="5532120" y="4142232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3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 1%</a:t>
            </a:r>
            <a:endParaRPr lang="en-US" sz="1600" dirty="0"/>
          </a:p>
        </p:txBody>
      </p:sp>
      <p:sp>
        <p:nvSpPr>
          <p:cNvPr id="60" name="Text 56"/>
          <p:cNvSpPr/>
          <p:nvPr/>
        </p:nvSpPr>
        <p:spPr>
          <a:xfrm>
            <a:off x="5577840" y="4507992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Ложные суммаризации</a:t>
            </a:r>
            <a:endParaRPr lang="en-US" sz="700" dirty="0"/>
          </a:p>
        </p:txBody>
      </p:sp>
      <p:sp>
        <p:nvSpPr>
          <p:cNvPr id="61" name="Shape 57"/>
          <p:cNvSpPr/>
          <p:nvPr/>
        </p:nvSpPr>
        <p:spPr>
          <a:xfrm>
            <a:off x="7223760" y="4114800"/>
            <a:ext cx="1572768" cy="777240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62" name="Text 58"/>
          <p:cNvSpPr/>
          <p:nvPr/>
        </p:nvSpPr>
        <p:spPr>
          <a:xfrm>
            <a:off x="7223760" y="4142232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3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99.5%</a:t>
            </a:r>
            <a:endParaRPr lang="en-US" sz="1600" dirty="0"/>
          </a:p>
        </p:txBody>
      </p:sp>
      <p:sp>
        <p:nvSpPr>
          <p:cNvPr id="63" name="Text 59"/>
          <p:cNvSpPr/>
          <p:nvPr/>
        </p:nvSpPr>
        <p:spPr>
          <a:xfrm>
            <a:off x="7269480" y="4507992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Uptime парсинга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5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74320" y="1371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3FF00">
                    <a:alpha val="6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3200" dirty="0"/>
          </a:p>
        </p:txBody>
      </p:sp>
      <p:sp>
        <p:nvSpPr>
          <p:cNvPr id="5" name="Text 1"/>
          <p:cNvSpPr/>
          <p:nvPr/>
        </p:nvSpPr>
        <p:spPr>
          <a:xfrm>
            <a:off x="1097280" y="1828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400" kern="0" dirty="0">
                <a:solidFill>
                  <a:srgbClr val="C3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ПЕРСОНАЛИЗАЦИЯ</a:t>
            </a:r>
            <a:endParaRPr lang="en-US" sz="2800" dirty="0"/>
          </a:p>
        </p:txBody>
      </p:sp>
      <p:sp>
        <p:nvSpPr>
          <p:cNvPr id="6" name="Text 2"/>
          <p:cNvSpPr/>
          <p:nvPr/>
        </p:nvSpPr>
        <p:spPr>
          <a:xfrm>
            <a:off x="457200" y="7772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3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УРОВЕНЬ 1: ПРОФИЛЬНАЯ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457200" y="10515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регистрации пользователь выбирает роль → система применяет предустановленные веса категорий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4846320" y="7772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2D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УРОВЕНЬ 2: ПОВЕДЕНЧЕСКАЯ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846320" y="10515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 ~7 дней ML-модель учится на поведении: открытия, дочитывания, избранное, переходы</a:t>
            </a:r>
            <a:endParaRPr lang="en-US" sz="9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274320" y="1417320"/>
            <a:ext cx="5029200" cy="2871216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4846320" y="1463040"/>
            <a:ext cx="4023360" cy="1828800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4846320" y="1463040"/>
            <a:ext cx="109728" cy="0"/>
          </a:xfrm>
          <a:prstGeom prst="line">
            <a:avLst/>
          </a:prstGeom>
          <a:noFill/>
          <a:ln w="19050">
            <a:solidFill>
              <a:srgbClr val="C3FF00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4846320" y="1463040"/>
            <a:ext cx="0" cy="109728"/>
          </a:xfrm>
          <a:prstGeom prst="line">
            <a:avLst/>
          </a:prstGeom>
          <a:noFill/>
          <a:ln w="19050">
            <a:solidFill>
              <a:srgbClr val="C3FF00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8759952" y="1463040"/>
            <a:ext cx="109728" cy="0"/>
          </a:xfrm>
          <a:prstGeom prst="line">
            <a:avLst/>
          </a:prstGeom>
          <a:noFill/>
          <a:ln w="19050">
            <a:solidFill>
              <a:srgbClr val="C3FF00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8869680" y="1463040"/>
            <a:ext cx="0" cy="109728"/>
          </a:xfrm>
          <a:prstGeom prst="line">
            <a:avLst/>
          </a:prstGeom>
          <a:noFill/>
          <a:ln w="19050">
            <a:solidFill>
              <a:srgbClr val="C3FF00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4846320" y="3182112"/>
            <a:ext cx="0" cy="109728"/>
          </a:xfrm>
          <a:prstGeom prst="line">
            <a:avLst/>
          </a:prstGeom>
          <a:noFill/>
          <a:ln w="19050">
            <a:solidFill>
              <a:srgbClr val="C3FF00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4846320" y="3291840"/>
            <a:ext cx="109728" cy="0"/>
          </a:xfrm>
          <a:prstGeom prst="line">
            <a:avLst/>
          </a:prstGeom>
          <a:noFill/>
          <a:ln w="19050">
            <a:solidFill>
              <a:srgbClr val="C3FF00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8759952" y="3291840"/>
            <a:ext cx="109728" cy="0"/>
          </a:xfrm>
          <a:prstGeom prst="line">
            <a:avLst/>
          </a:prstGeom>
          <a:noFill/>
          <a:ln w="19050">
            <a:solidFill>
              <a:srgbClr val="C3FF00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8869680" y="3182112"/>
            <a:ext cx="0" cy="109728"/>
          </a:xfrm>
          <a:prstGeom prst="line">
            <a:avLst/>
          </a:prstGeom>
          <a:noFill/>
          <a:ln w="19050">
            <a:solidFill>
              <a:srgbClr val="C3FF00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5029200" y="15544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3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ФОРМУЛА РАНЖИРОВАНИЯ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5029200" y="18745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3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α=0.30  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6126480" y="18745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соответствие профилю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5029200" y="21305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2D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β=0.25  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6126480" y="213055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важность события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5029200" y="2386584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γ=0.20  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6126480" y="2386584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свежесть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5029200" y="2642616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73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δ=0.15  </a:t>
            </a:r>
            <a:endParaRPr lang="en-US" sz="1000" dirty="0"/>
          </a:p>
        </p:txBody>
      </p:sp>
      <p:sp>
        <p:nvSpPr>
          <p:cNvPr id="28" name="Text 23"/>
          <p:cNvSpPr/>
          <p:nvPr/>
        </p:nvSpPr>
        <p:spPr>
          <a:xfrm>
            <a:off x="6126480" y="264261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watchlist совпадения</a:t>
            </a:r>
            <a:endParaRPr lang="en-US" sz="900" dirty="0"/>
          </a:p>
        </p:txBody>
      </p:sp>
      <p:sp>
        <p:nvSpPr>
          <p:cNvPr id="29" name="Text 24"/>
          <p:cNvSpPr/>
          <p:nvPr/>
        </p:nvSpPr>
        <p:spPr>
          <a:xfrm>
            <a:off x="5029200" y="289864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7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ε=0.10  </a:t>
            </a:r>
            <a:endParaRPr lang="en-US" sz="1000" dirty="0"/>
          </a:p>
        </p:txBody>
      </p:sp>
      <p:sp>
        <p:nvSpPr>
          <p:cNvPr id="30" name="Text 25"/>
          <p:cNvSpPr/>
          <p:nvPr/>
        </p:nvSpPr>
        <p:spPr>
          <a:xfrm>
            <a:off x="6126480" y="289864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поведенческая история</a:t>
            </a:r>
            <a:endParaRPr lang="en-US" sz="900" dirty="0"/>
          </a:p>
        </p:txBody>
      </p:sp>
      <p:sp>
        <p:nvSpPr>
          <p:cNvPr id="31" name="Shape 26"/>
          <p:cNvSpPr/>
          <p:nvPr/>
        </p:nvSpPr>
        <p:spPr>
          <a:xfrm>
            <a:off x="4846320" y="3429000"/>
            <a:ext cx="4023360" cy="457200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4983480" y="3456432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мере накопления данных ε растёт (→ 0.30), α снижается: система переходит от холодного старта к ML-персонализации</a:t>
            </a:r>
            <a:endParaRPr lang="en-US" sz="800" dirty="0"/>
          </a:p>
        </p:txBody>
      </p:sp>
      <p:sp>
        <p:nvSpPr>
          <p:cNvPr id="33" name="Text 28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 Пользователь настраивает: период дайджеста / время получения / источники / watchlist компаний / срочные уведомления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5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74320" y="1371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3FF00">
                    <a:alpha val="6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3200" dirty="0"/>
          </a:p>
        </p:txBody>
      </p:sp>
      <p:sp>
        <p:nvSpPr>
          <p:cNvPr id="5" name="Text 1"/>
          <p:cNvSpPr/>
          <p:nvPr/>
        </p:nvSpPr>
        <p:spPr>
          <a:xfrm>
            <a:off x="1097280" y="1828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400" kern="0" dirty="0">
                <a:solidFill>
                  <a:srgbClr val="C3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UX — ЭКРАНЫ ПРИЛОЖЕНИЯ</a:t>
            </a:r>
            <a:endParaRPr lang="en-US" sz="280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274320" y="777240"/>
            <a:ext cx="2057400" cy="3291840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274320" y="777240"/>
            <a:ext cx="91440" cy="0"/>
          </a:xfrm>
          <a:prstGeom prst="line">
            <a:avLst/>
          </a:prstGeom>
          <a:noFill/>
          <a:ln w="19050">
            <a:solidFill>
              <a:srgbClr val="C3FF00"/>
            </a:solidFill>
            <a:prstDash val="solid"/>
          </a:ln>
        </p:spPr>
      </p:sp>
      <p:sp>
        <p:nvSpPr>
          <p:cNvPr id="8" name="Shape 3"/>
          <p:cNvSpPr/>
          <p:nvPr/>
        </p:nvSpPr>
        <p:spPr>
          <a:xfrm>
            <a:off x="274320" y="777240"/>
            <a:ext cx="0" cy="91440"/>
          </a:xfrm>
          <a:prstGeom prst="line">
            <a:avLst/>
          </a:prstGeom>
          <a:noFill/>
          <a:ln w="19050">
            <a:solidFill>
              <a:srgbClr val="C3FF00"/>
            </a:solidFill>
            <a:prstDash val="solid"/>
          </a:ln>
        </p:spPr>
      </p:sp>
      <p:sp>
        <p:nvSpPr>
          <p:cNvPr id="9" name="Shape 4"/>
          <p:cNvSpPr/>
          <p:nvPr/>
        </p:nvSpPr>
        <p:spPr>
          <a:xfrm>
            <a:off x="2240280" y="777240"/>
            <a:ext cx="91440" cy="0"/>
          </a:xfrm>
          <a:prstGeom prst="line">
            <a:avLst/>
          </a:prstGeom>
          <a:noFill/>
          <a:ln w="19050">
            <a:solidFill>
              <a:srgbClr val="C3FF00"/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2331720" y="777240"/>
            <a:ext cx="0" cy="91440"/>
          </a:xfrm>
          <a:prstGeom prst="line">
            <a:avLst/>
          </a:prstGeom>
          <a:noFill/>
          <a:ln w="19050">
            <a:solidFill>
              <a:srgbClr val="C3FF00"/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274320" y="3977640"/>
            <a:ext cx="0" cy="91440"/>
          </a:xfrm>
          <a:prstGeom prst="line">
            <a:avLst/>
          </a:prstGeom>
          <a:noFill/>
          <a:ln w="19050">
            <a:solidFill>
              <a:srgbClr val="C3FF00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274320" y="4069080"/>
            <a:ext cx="91440" cy="0"/>
          </a:xfrm>
          <a:prstGeom prst="line">
            <a:avLst/>
          </a:prstGeom>
          <a:noFill/>
          <a:ln w="19050">
            <a:solidFill>
              <a:srgbClr val="C3FF00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2240280" y="4069080"/>
            <a:ext cx="91440" cy="0"/>
          </a:xfrm>
          <a:prstGeom prst="line">
            <a:avLst/>
          </a:prstGeom>
          <a:noFill/>
          <a:ln w="19050">
            <a:solidFill>
              <a:srgbClr val="C3FF00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2331720" y="3977640"/>
            <a:ext cx="0" cy="91440"/>
          </a:xfrm>
          <a:prstGeom prst="line">
            <a:avLst/>
          </a:prstGeom>
          <a:noFill/>
          <a:ln w="19050">
            <a:solidFill>
              <a:srgbClr val="C3FF00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274320" y="416052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3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Онбординг</a:t>
            </a:r>
            <a:endParaRPr lang="en-US" sz="10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2514600" y="777240"/>
            <a:ext cx="2057400" cy="329184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2514600" y="777240"/>
            <a:ext cx="91440" cy="0"/>
          </a:xfrm>
          <a:prstGeom prst="line">
            <a:avLst/>
          </a:prstGeom>
          <a:noFill/>
          <a:ln w="19050">
            <a:solidFill>
              <a:srgbClr val="C3FF00"/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2514600" y="777240"/>
            <a:ext cx="0" cy="91440"/>
          </a:xfrm>
          <a:prstGeom prst="line">
            <a:avLst/>
          </a:prstGeom>
          <a:noFill/>
          <a:ln w="19050">
            <a:solidFill>
              <a:srgbClr val="C3FF00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4480560" y="777240"/>
            <a:ext cx="91440" cy="0"/>
          </a:xfrm>
          <a:prstGeom prst="line">
            <a:avLst/>
          </a:prstGeom>
          <a:noFill/>
          <a:ln w="19050">
            <a:solidFill>
              <a:srgbClr val="C3FF00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4572000" y="777240"/>
            <a:ext cx="0" cy="91440"/>
          </a:xfrm>
          <a:prstGeom prst="line">
            <a:avLst/>
          </a:prstGeom>
          <a:noFill/>
          <a:ln w="19050">
            <a:solidFill>
              <a:srgbClr val="C3FF00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2514600" y="3977640"/>
            <a:ext cx="0" cy="91440"/>
          </a:xfrm>
          <a:prstGeom prst="line">
            <a:avLst/>
          </a:prstGeom>
          <a:noFill/>
          <a:ln w="19050">
            <a:solidFill>
              <a:srgbClr val="C3FF00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2514600" y="4069080"/>
            <a:ext cx="91440" cy="0"/>
          </a:xfrm>
          <a:prstGeom prst="line">
            <a:avLst/>
          </a:prstGeom>
          <a:noFill/>
          <a:ln w="19050">
            <a:solidFill>
              <a:srgbClr val="C3FF00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4480560" y="4069080"/>
            <a:ext cx="91440" cy="0"/>
          </a:xfrm>
          <a:prstGeom prst="line">
            <a:avLst/>
          </a:prstGeom>
          <a:noFill/>
          <a:ln w="19050">
            <a:solidFill>
              <a:srgbClr val="C3FF00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4572000" y="3977640"/>
            <a:ext cx="0" cy="91440"/>
          </a:xfrm>
          <a:prstGeom prst="line">
            <a:avLst/>
          </a:prstGeom>
          <a:noFill/>
          <a:ln w="19050">
            <a:solidFill>
              <a:srgbClr val="C3FF00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2514600" y="416052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3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Главная</a:t>
            </a:r>
            <a:endParaRPr lang="en-US" sz="1000" dirty="0"/>
          </a:p>
        </p:txBody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754880" y="777240"/>
            <a:ext cx="2057400" cy="3291840"/>
          </a:xfrm>
          <a:prstGeom prst="rect">
            <a:avLst/>
          </a:prstGeom>
        </p:spPr>
      </p:pic>
      <p:sp>
        <p:nvSpPr>
          <p:cNvPr id="27" name="Shape 20"/>
          <p:cNvSpPr/>
          <p:nvPr/>
        </p:nvSpPr>
        <p:spPr>
          <a:xfrm>
            <a:off x="4754880" y="777240"/>
            <a:ext cx="91440" cy="0"/>
          </a:xfrm>
          <a:prstGeom prst="line">
            <a:avLst/>
          </a:prstGeom>
          <a:noFill/>
          <a:ln w="19050">
            <a:solidFill>
              <a:srgbClr val="C3FF00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4754880" y="777240"/>
            <a:ext cx="0" cy="91440"/>
          </a:xfrm>
          <a:prstGeom prst="line">
            <a:avLst/>
          </a:prstGeom>
          <a:noFill/>
          <a:ln w="19050">
            <a:solidFill>
              <a:srgbClr val="C3FF00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6720840" y="777240"/>
            <a:ext cx="91440" cy="0"/>
          </a:xfrm>
          <a:prstGeom prst="line">
            <a:avLst/>
          </a:prstGeom>
          <a:noFill/>
          <a:ln w="19050">
            <a:solidFill>
              <a:srgbClr val="C3FF00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6812280" y="777240"/>
            <a:ext cx="0" cy="91440"/>
          </a:xfrm>
          <a:prstGeom prst="line">
            <a:avLst/>
          </a:prstGeom>
          <a:noFill/>
          <a:ln w="19050">
            <a:solidFill>
              <a:srgbClr val="C3FF00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4754880" y="3977640"/>
            <a:ext cx="0" cy="91440"/>
          </a:xfrm>
          <a:prstGeom prst="line">
            <a:avLst/>
          </a:prstGeom>
          <a:noFill/>
          <a:ln w="19050">
            <a:solidFill>
              <a:srgbClr val="C3FF00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4754880" y="4069080"/>
            <a:ext cx="91440" cy="0"/>
          </a:xfrm>
          <a:prstGeom prst="line">
            <a:avLst/>
          </a:prstGeom>
          <a:noFill/>
          <a:ln w="19050">
            <a:solidFill>
              <a:srgbClr val="C3FF00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6720840" y="4069080"/>
            <a:ext cx="91440" cy="0"/>
          </a:xfrm>
          <a:prstGeom prst="line">
            <a:avLst/>
          </a:prstGeom>
          <a:noFill/>
          <a:ln w="19050">
            <a:solidFill>
              <a:srgbClr val="C3FF00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6812280" y="3977640"/>
            <a:ext cx="0" cy="91440"/>
          </a:xfrm>
          <a:prstGeom prst="line">
            <a:avLst/>
          </a:prstGeom>
          <a:noFill/>
          <a:ln w="19050">
            <a:solidFill>
              <a:srgbClr val="C3FF00"/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4754880" y="416052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3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Статья</a:t>
            </a:r>
            <a:endParaRPr lang="en-US" sz="1000" dirty="0"/>
          </a:p>
        </p:txBody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6995160" y="777240"/>
            <a:ext cx="2057400" cy="3291840"/>
          </a:xfrm>
          <a:prstGeom prst="rect">
            <a:avLst/>
          </a:prstGeom>
        </p:spPr>
      </p:pic>
      <p:sp>
        <p:nvSpPr>
          <p:cNvPr id="37" name="Shape 29"/>
          <p:cNvSpPr/>
          <p:nvPr/>
        </p:nvSpPr>
        <p:spPr>
          <a:xfrm>
            <a:off x="6995160" y="777240"/>
            <a:ext cx="91440" cy="0"/>
          </a:xfrm>
          <a:prstGeom prst="line">
            <a:avLst/>
          </a:prstGeom>
          <a:noFill/>
          <a:ln w="19050">
            <a:solidFill>
              <a:srgbClr val="C3FF00"/>
            </a:solidFill>
            <a:prstDash val="solid"/>
          </a:ln>
        </p:spPr>
      </p:sp>
      <p:sp>
        <p:nvSpPr>
          <p:cNvPr id="38" name="Shape 30"/>
          <p:cNvSpPr/>
          <p:nvPr/>
        </p:nvSpPr>
        <p:spPr>
          <a:xfrm>
            <a:off x="6995160" y="777240"/>
            <a:ext cx="0" cy="91440"/>
          </a:xfrm>
          <a:prstGeom prst="line">
            <a:avLst/>
          </a:prstGeom>
          <a:noFill/>
          <a:ln w="19050">
            <a:solidFill>
              <a:srgbClr val="C3FF00"/>
            </a:solidFill>
            <a:prstDash val="solid"/>
          </a:ln>
        </p:spPr>
      </p:sp>
      <p:sp>
        <p:nvSpPr>
          <p:cNvPr id="39" name="Shape 31"/>
          <p:cNvSpPr/>
          <p:nvPr/>
        </p:nvSpPr>
        <p:spPr>
          <a:xfrm>
            <a:off x="8961120" y="777240"/>
            <a:ext cx="91440" cy="0"/>
          </a:xfrm>
          <a:prstGeom prst="line">
            <a:avLst/>
          </a:prstGeom>
          <a:noFill/>
          <a:ln w="19050">
            <a:solidFill>
              <a:srgbClr val="C3FF00"/>
            </a:solidFill>
            <a:prstDash val="solid"/>
          </a:ln>
        </p:spPr>
      </p:sp>
      <p:sp>
        <p:nvSpPr>
          <p:cNvPr id="40" name="Shape 32"/>
          <p:cNvSpPr/>
          <p:nvPr/>
        </p:nvSpPr>
        <p:spPr>
          <a:xfrm>
            <a:off x="9052560" y="777240"/>
            <a:ext cx="0" cy="91440"/>
          </a:xfrm>
          <a:prstGeom prst="line">
            <a:avLst/>
          </a:prstGeom>
          <a:noFill/>
          <a:ln w="19050">
            <a:solidFill>
              <a:srgbClr val="C3FF00"/>
            </a:solidFill>
            <a:prstDash val="solid"/>
          </a:ln>
        </p:spPr>
      </p:sp>
      <p:sp>
        <p:nvSpPr>
          <p:cNvPr id="41" name="Shape 33"/>
          <p:cNvSpPr/>
          <p:nvPr/>
        </p:nvSpPr>
        <p:spPr>
          <a:xfrm>
            <a:off x="6995160" y="3977640"/>
            <a:ext cx="0" cy="91440"/>
          </a:xfrm>
          <a:prstGeom prst="line">
            <a:avLst/>
          </a:prstGeom>
          <a:noFill/>
          <a:ln w="19050">
            <a:solidFill>
              <a:srgbClr val="C3FF00"/>
            </a:solidFill>
            <a:prstDash val="solid"/>
          </a:ln>
        </p:spPr>
      </p:sp>
      <p:sp>
        <p:nvSpPr>
          <p:cNvPr id="42" name="Shape 34"/>
          <p:cNvSpPr/>
          <p:nvPr/>
        </p:nvSpPr>
        <p:spPr>
          <a:xfrm>
            <a:off x="6995160" y="4069080"/>
            <a:ext cx="91440" cy="0"/>
          </a:xfrm>
          <a:prstGeom prst="line">
            <a:avLst/>
          </a:prstGeom>
          <a:noFill/>
          <a:ln w="19050">
            <a:solidFill>
              <a:srgbClr val="C3FF00"/>
            </a:solidFill>
            <a:prstDash val="solid"/>
          </a:ln>
        </p:spPr>
      </p:sp>
      <p:sp>
        <p:nvSpPr>
          <p:cNvPr id="43" name="Shape 35"/>
          <p:cNvSpPr/>
          <p:nvPr/>
        </p:nvSpPr>
        <p:spPr>
          <a:xfrm>
            <a:off x="8961120" y="4069080"/>
            <a:ext cx="91440" cy="0"/>
          </a:xfrm>
          <a:prstGeom prst="line">
            <a:avLst/>
          </a:prstGeom>
          <a:noFill/>
          <a:ln w="19050">
            <a:solidFill>
              <a:srgbClr val="C3FF00"/>
            </a:solidFill>
            <a:prstDash val="solid"/>
          </a:ln>
        </p:spPr>
      </p:sp>
      <p:sp>
        <p:nvSpPr>
          <p:cNvPr id="44" name="Shape 36"/>
          <p:cNvSpPr/>
          <p:nvPr/>
        </p:nvSpPr>
        <p:spPr>
          <a:xfrm>
            <a:off x="9052560" y="3977640"/>
            <a:ext cx="0" cy="91440"/>
          </a:xfrm>
          <a:prstGeom prst="line">
            <a:avLst/>
          </a:prstGeom>
          <a:noFill/>
          <a:ln w="19050">
            <a:solidFill>
              <a:srgbClr val="C3FF00"/>
            </a:solidFill>
            <a:prstDash val="solid"/>
          </a:ln>
        </p:spPr>
      </p:sp>
      <p:sp>
        <p:nvSpPr>
          <p:cNvPr id="45" name="Text 37"/>
          <p:cNvSpPr/>
          <p:nvPr/>
        </p:nvSpPr>
        <p:spPr>
          <a:xfrm>
            <a:off x="6995160" y="416052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3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Настройки</a:t>
            </a:r>
            <a:endParaRPr lang="en-US" sz="1000" dirty="0"/>
          </a:p>
        </p:txBody>
      </p:sp>
      <p:sp>
        <p:nvSpPr>
          <p:cNvPr id="46" name="Text 38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Dark mode  //  Акцент: #1A73E8  //  Inter + PT Serif  //  Минималистичные карточки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5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74320" y="1371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3FF00">
                    <a:alpha val="6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3200" dirty="0"/>
          </a:p>
        </p:txBody>
      </p:sp>
      <p:sp>
        <p:nvSpPr>
          <p:cNvPr id="5" name="Text 1"/>
          <p:cNvSpPr/>
          <p:nvPr/>
        </p:nvSpPr>
        <p:spPr>
          <a:xfrm>
            <a:off x="1097280" y="1828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400" kern="0" dirty="0">
                <a:solidFill>
                  <a:srgbClr val="C3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МОНЕТИЗАЦИЯ</a:t>
            </a:r>
            <a:endParaRPr lang="en-US" sz="2800" dirty="0"/>
          </a:p>
        </p:txBody>
      </p:sp>
      <p:sp>
        <p:nvSpPr>
          <p:cNvPr id="6" name="Shape 2"/>
          <p:cNvSpPr/>
          <p:nvPr/>
        </p:nvSpPr>
        <p:spPr>
          <a:xfrm>
            <a:off x="365760" y="777240"/>
            <a:ext cx="2697480" cy="2606040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365760" y="777240"/>
            <a:ext cx="2697480" cy="45720"/>
          </a:xfrm>
          <a:prstGeom prst="rect">
            <a:avLst/>
          </a:prstGeom>
          <a:solidFill>
            <a:srgbClr val="888888"/>
          </a:solidFill>
          <a:ln/>
        </p:spPr>
      </p:sp>
      <p:sp>
        <p:nvSpPr>
          <p:cNvPr id="8" name="Shape 4"/>
          <p:cNvSpPr/>
          <p:nvPr/>
        </p:nvSpPr>
        <p:spPr>
          <a:xfrm>
            <a:off x="365760" y="777240"/>
            <a:ext cx="91440" cy="0"/>
          </a:xfrm>
          <a:prstGeom prst="line">
            <a:avLst/>
          </a:prstGeom>
          <a:noFill/>
          <a:ln w="19050">
            <a:solidFill>
              <a:srgbClr val="888888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365760" y="777240"/>
            <a:ext cx="0" cy="91440"/>
          </a:xfrm>
          <a:prstGeom prst="line">
            <a:avLst/>
          </a:prstGeom>
          <a:noFill/>
          <a:ln w="19050">
            <a:solidFill>
              <a:srgbClr val="888888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2971800" y="777240"/>
            <a:ext cx="91440" cy="0"/>
          </a:xfrm>
          <a:prstGeom prst="line">
            <a:avLst/>
          </a:prstGeom>
          <a:noFill/>
          <a:ln w="19050">
            <a:solidFill>
              <a:srgbClr val="888888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3063240" y="777240"/>
            <a:ext cx="0" cy="91440"/>
          </a:xfrm>
          <a:prstGeom prst="line">
            <a:avLst/>
          </a:prstGeom>
          <a:noFill/>
          <a:ln w="19050">
            <a:solidFill>
              <a:srgbClr val="888888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365760" y="3291840"/>
            <a:ext cx="0" cy="91440"/>
          </a:xfrm>
          <a:prstGeom prst="line">
            <a:avLst/>
          </a:prstGeom>
          <a:noFill/>
          <a:ln w="19050">
            <a:solidFill>
              <a:srgbClr val="888888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65760" y="3383280"/>
            <a:ext cx="91440" cy="0"/>
          </a:xfrm>
          <a:prstGeom prst="line">
            <a:avLst/>
          </a:prstGeom>
          <a:noFill/>
          <a:ln w="19050">
            <a:solidFill>
              <a:srgbClr val="888888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2971800" y="3383280"/>
            <a:ext cx="91440" cy="0"/>
          </a:xfrm>
          <a:prstGeom prst="line">
            <a:avLst/>
          </a:prstGeom>
          <a:noFill/>
          <a:ln w="19050">
            <a:solidFill>
              <a:srgbClr val="88888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3063240" y="3291840"/>
            <a:ext cx="0" cy="91440"/>
          </a:xfrm>
          <a:prstGeom prst="line">
            <a:avLst/>
          </a:prstGeom>
          <a:noFill/>
          <a:ln w="19050">
            <a:solidFill>
              <a:srgbClr val="888888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65760" y="86868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FREE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365760" y="1170432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 ₽</a:t>
            </a:r>
            <a:endParaRPr lang="en-US" sz="2000" dirty="0"/>
          </a:p>
        </p:txBody>
      </p:sp>
      <p:sp>
        <p:nvSpPr>
          <p:cNvPr id="18" name="Text 14"/>
          <p:cNvSpPr/>
          <p:nvPr/>
        </p:nvSpPr>
        <p:spPr>
          <a:xfrm>
            <a:off x="548640" y="1600200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 1 категория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548640" y="1847088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 5 новостей/день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548640" y="2093976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 Архив 3 дня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548640" y="2340864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 Без персонализации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3246120" y="777240"/>
            <a:ext cx="2697480" cy="2606040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3246120" y="777240"/>
            <a:ext cx="2697480" cy="45720"/>
          </a:xfrm>
          <a:prstGeom prst="rect">
            <a:avLst/>
          </a:prstGeom>
          <a:solidFill>
            <a:srgbClr val="C3FF00"/>
          </a:solidFill>
          <a:ln/>
        </p:spPr>
      </p:sp>
      <p:sp>
        <p:nvSpPr>
          <p:cNvPr id="24" name="Shape 20"/>
          <p:cNvSpPr/>
          <p:nvPr/>
        </p:nvSpPr>
        <p:spPr>
          <a:xfrm>
            <a:off x="3246120" y="777240"/>
            <a:ext cx="91440" cy="0"/>
          </a:xfrm>
          <a:prstGeom prst="line">
            <a:avLst/>
          </a:prstGeom>
          <a:noFill/>
          <a:ln w="19050">
            <a:solidFill>
              <a:srgbClr val="C3FF00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3246120" y="777240"/>
            <a:ext cx="0" cy="91440"/>
          </a:xfrm>
          <a:prstGeom prst="line">
            <a:avLst/>
          </a:prstGeom>
          <a:noFill/>
          <a:ln w="19050">
            <a:solidFill>
              <a:srgbClr val="C3FF00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5852160" y="777240"/>
            <a:ext cx="91440" cy="0"/>
          </a:xfrm>
          <a:prstGeom prst="line">
            <a:avLst/>
          </a:prstGeom>
          <a:noFill/>
          <a:ln w="19050">
            <a:solidFill>
              <a:srgbClr val="C3FF00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5943600" y="777240"/>
            <a:ext cx="0" cy="91440"/>
          </a:xfrm>
          <a:prstGeom prst="line">
            <a:avLst/>
          </a:prstGeom>
          <a:noFill/>
          <a:ln w="19050">
            <a:solidFill>
              <a:srgbClr val="C3FF00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3246120" y="3291840"/>
            <a:ext cx="0" cy="91440"/>
          </a:xfrm>
          <a:prstGeom prst="line">
            <a:avLst/>
          </a:prstGeom>
          <a:noFill/>
          <a:ln w="19050">
            <a:solidFill>
              <a:srgbClr val="C3FF00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3246120" y="3383280"/>
            <a:ext cx="91440" cy="0"/>
          </a:xfrm>
          <a:prstGeom prst="line">
            <a:avLst/>
          </a:prstGeom>
          <a:noFill/>
          <a:ln w="19050">
            <a:solidFill>
              <a:srgbClr val="C3FF00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5852160" y="3383280"/>
            <a:ext cx="91440" cy="0"/>
          </a:xfrm>
          <a:prstGeom prst="line">
            <a:avLst/>
          </a:prstGeom>
          <a:noFill/>
          <a:ln w="19050">
            <a:solidFill>
              <a:srgbClr val="C3FF00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5943600" y="3291840"/>
            <a:ext cx="0" cy="91440"/>
          </a:xfrm>
          <a:prstGeom prst="line">
            <a:avLst/>
          </a:prstGeom>
          <a:noFill/>
          <a:ln w="19050">
            <a:solidFill>
              <a:srgbClr val="C3FF00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3246120" y="86868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3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STANDARD</a:t>
            </a:r>
            <a:endParaRPr lang="en-US" sz="1400" dirty="0"/>
          </a:p>
        </p:txBody>
      </p:sp>
      <p:sp>
        <p:nvSpPr>
          <p:cNvPr id="33" name="Text 29"/>
          <p:cNvSpPr/>
          <p:nvPr/>
        </p:nvSpPr>
        <p:spPr>
          <a:xfrm>
            <a:off x="3246120" y="1170432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2 000 ₽/мес</a:t>
            </a:r>
            <a:endParaRPr lang="en-US" sz="2000" dirty="0"/>
          </a:p>
        </p:txBody>
      </p:sp>
      <p:sp>
        <p:nvSpPr>
          <p:cNvPr id="34" name="Text 30"/>
          <p:cNvSpPr/>
          <p:nvPr/>
        </p:nvSpPr>
        <p:spPr>
          <a:xfrm>
            <a:off x="3429000" y="1600200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 5 категорий</a:t>
            </a:r>
            <a:endParaRPr lang="en-US" sz="900" dirty="0"/>
          </a:p>
        </p:txBody>
      </p:sp>
      <p:sp>
        <p:nvSpPr>
          <p:cNvPr id="35" name="Text 31"/>
          <p:cNvSpPr/>
          <p:nvPr/>
        </p:nvSpPr>
        <p:spPr>
          <a:xfrm>
            <a:off x="3429000" y="1847088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 Без лимита</a:t>
            </a:r>
            <a:endParaRPr lang="en-US" sz="900" dirty="0"/>
          </a:p>
        </p:txBody>
      </p:sp>
      <p:sp>
        <p:nvSpPr>
          <p:cNvPr id="36" name="Text 32"/>
          <p:cNvSpPr/>
          <p:nvPr/>
        </p:nvSpPr>
        <p:spPr>
          <a:xfrm>
            <a:off x="3429000" y="2093976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 Архив 30 дней</a:t>
            </a:r>
            <a:endParaRPr lang="en-US" sz="900" dirty="0"/>
          </a:p>
        </p:txBody>
      </p:sp>
      <p:sp>
        <p:nvSpPr>
          <p:cNvPr id="37" name="Text 33"/>
          <p:cNvSpPr/>
          <p:nvPr/>
        </p:nvSpPr>
        <p:spPr>
          <a:xfrm>
            <a:off x="3429000" y="2340864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 Персонализация</a:t>
            </a:r>
            <a:endParaRPr lang="en-US" sz="900" dirty="0"/>
          </a:p>
        </p:txBody>
      </p:sp>
      <p:sp>
        <p:nvSpPr>
          <p:cNvPr id="38" name="Text 34"/>
          <p:cNvSpPr/>
          <p:nvPr/>
        </p:nvSpPr>
        <p:spPr>
          <a:xfrm>
            <a:off x="3429000" y="2587752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 Watchlist до 5</a:t>
            </a:r>
            <a:endParaRPr lang="en-US" sz="900" dirty="0"/>
          </a:p>
        </p:txBody>
      </p:sp>
      <p:sp>
        <p:nvSpPr>
          <p:cNvPr id="39" name="Shape 35"/>
          <p:cNvSpPr/>
          <p:nvPr/>
        </p:nvSpPr>
        <p:spPr>
          <a:xfrm>
            <a:off x="6126480" y="777240"/>
            <a:ext cx="2697480" cy="2606040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6126480" y="777240"/>
            <a:ext cx="2697480" cy="45720"/>
          </a:xfrm>
          <a:prstGeom prst="rect">
            <a:avLst/>
          </a:prstGeom>
          <a:solidFill>
            <a:srgbClr val="FF2D6B"/>
          </a:solidFill>
          <a:ln/>
        </p:spPr>
      </p:sp>
      <p:sp>
        <p:nvSpPr>
          <p:cNvPr id="41" name="Shape 37"/>
          <p:cNvSpPr/>
          <p:nvPr/>
        </p:nvSpPr>
        <p:spPr>
          <a:xfrm>
            <a:off x="6126480" y="777240"/>
            <a:ext cx="91440" cy="0"/>
          </a:xfrm>
          <a:prstGeom prst="line">
            <a:avLst/>
          </a:prstGeom>
          <a:noFill/>
          <a:ln w="19050">
            <a:solidFill>
              <a:srgbClr val="FF2D6B"/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6126480" y="777240"/>
            <a:ext cx="0" cy="91440"/>
          </a:xfrm>
          <a:prstGeom prst="line">
            <a:avLst/>
          </a:prstGeom>
          <a:noFill/>
          <a:ln w="19050">
            <a:solidFill>
              <a:srgbClr val="FF2D6B"/>
            </a:solidFill>
            <a:prstDash val="solid"/>
          </a:ln>
        </p:spPr>
      </p:sp>
      <p:sp>
        <p:nvSpPr>
          <p:cNvPr id="43" name="Shape 39"/>
          <p:cNvSpPr/>
          <p:nvPr/>
        </p:nvSpPr>
        <p:spPr>
          <a:xfrm>
            <a:off x="8732520" y="777240"/>
            <a:ext cx="91440" cy="0"/>
          </a:xfrm>
          <a:prstGeom prst="line">
            <a:avLst/>
          </a:prstGeom>
          <a:noFill/>
          <a:ln w="19050">
            <a:solidFill>
              <a:srgbClr val="FF2D6B"/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>
            <a:off x="8823960" y="777240"/>
            <a:ext cx="0" cy="91440"/>
          </a:xfrm>
          <a:prstGeom prst="line">
            <a:avLst/>
          </a:prstGeom>
          <a:noFill/>
          <a:ln w="19050">
            <a:solidFill>
              <a:srgbClr val="FF2D6B"/>
            </a:solidFill>
            <a:prstDash val="solid"/>
          </a:ln>
        </p:spPr>
      </p:sp>
      <p:sp>
        <p:nvSpPr>
          <p:cNvPr id="45" name="Shape 41"/>
          <p:cNvSpPr/>
          <p:nvPr/>
        </p:nvSpPr>
        <p:spPr>
          <a:xfrm>
            <a:off x="6126480" y="3291840"/>
            <a:ext cx="0" cy="91440"/>
          </a:xfrm>
          <a:prstGeom prst="line">
            <a:avLst/>
          </a:prstGeom>
          <a:noFill/>
          <a:ln w="19050">
            <a:solidFill>
              <a:srgbClr val="FF2D6B"/>
            </a:solidFill>
            <a:prstDash val="solid"/>
          </a:ln>
        </p:spPr>
      </p:sp>
      <p:sp>
        <p:nvSpPr>
          <p:cNvPr id="46" name="Shape 42"/>
          <p:cNvSpPr/>
          <p:nvPr/>
        </p:nvSpPr>
        <p:spPr>
          <a:xfrm>
            <a:off x="6126480" y="3383280"/>
            <a:ext cx="91440" cy="0"/>
          </a:xfrm>
          <a:prstGeom prst="line">
            <a:avLst/>
          </a:prstGeom>
          <a:noFill/>
          <a:ln w="19050">
            <a:solidFill>
              <a:srgbClr val="FF2D6B"/>
            </a:solidFill>
            <a:prstDash val="solid"/>
          </a:ln>
        </p:spPr>
      </p:sp>
      <p:sp>
        <p:nvSpPr>
          <p:cNvPr id="47" name="Shape 43"/>
          <p:cNvSpPr/>
          <p:nvPr/>
        </p:nvSpPr>
        <p:spPr>
          <a:xfrm>
            <a:off x="8732520" y="3383280"/>
            <a:ext cx="91440" cy="0"/>
          </a:xfrm>
          <a:prstGeom prst="line">
            <a:avLst/>
          </a:prstGeom>
          <a:noFill/>
          <a:ln w="19050">
            <a:solidFill>
              <a:srgbClr val="FF2D6B"/>
            </a:solidFill>
            <a:prstDash val="solid"/>
          </a:ln>
        </p:spPr>
      </p:sp>
      <p:sp>
        <p:nvSpPr>
          <p:cNvPr id="48" name="Shape 44"/>
          <p:cNvSpPr/>
          <p:nvPr/>
        </p:nvSpPr>
        <p:spPr>
          <a:xfrm>
            <a:off x="8823960" y="3291840"/>
            <a:ext cx="0" cy="91440"/>
          </a:xfrm>
          <a:prstGeom prst="line">
            <a:avLst/>
          </a:prstGeom>
          <a:noFill/>
          <a:ln w="19050">
            <a:solidFill>
              <a:srgbClr val="FF2D6B"/>
            </a:solidFill>
            <a:prstDash val="solid"/>
          </a:ln>
        </p:spPr>
      </p:sp>
      <p:sp>
        <p:nvSpPr>
          <p:cNvPr id="49" name="Text 45"/>
          <p:cNvSpPr/>
          <p:nvPr/>
        </p:nvSpPr>
        <p:spPr>
          <a:xfrm>
            <a:off x="6126480" y="86868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2D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</a:t>
            </a:r>
            <a:endParaRPr lang="en-US" sz="1400" dirty="0"/>
          </a:p>
        </p:txBody>
      </p:sp>
      <p:sp>
        <p:nvSpPr>
          <p:cNvPr id="50" name="Text 46"/>
          <p:cNvSpPr/>
          <p:nvPr/>
        </p:nvSpPr>
        <p:spPr>
          <a:xfrm>
            <a:off x="6126480" y="1170432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3 000 ₽/мес</a:t>
            </a:r>
            <a:endParaRPr lang="en-US" sz="2000" dirty="0"/>
          </a:p>
        </p:txBody>
      </p:sp>
      <p:sp>
        <p:nvSpPr>
          <p:cNvPr id="51" name="Text 47"/>
          <p:cNvSpPr/>
          <p:nvPr/>
        </p:nvSpPr>
        <p:spPr>
          <a:xfrm>
            <a:off x="6309360" y="1600200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 5 категорий</a:t>
            </a:r>
            <a:endParaRPr lang="en-US" sz="900" dirty="0"/>
          </a:p>
        </p:txBody>
      </p:sp>
      <p:sp>
        <p:nvSpPr>
          <p:cNvPr id="52" name="Text 48"/>
          <p:cNvSpPr/>
          <p:nvPr/>
        </p:nvSpPr>
        <p:spPr>
          <a:xfrm>
            <a:off x="6309360" y="1847088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 Без лимита</a:t>
            </a:r>
            <a:endParaRPr lang="en-US" sz="900" dirty="0"/>
          </a:p>
        </p:txBody>
      </p:sp>
      <p:sp>
        <p:nvSpPr>
          <p:cNvPr id="53" name="Text 49"/>
          <p:cNvSpPr/>
          <p:nvPr/>
        </p:nvSpPr>
        <p:spPr>
          <a:xfrm>
            <a:off x="6309360" y="2093976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 Архив 1 год</a:t>
            </a:r>
            <a:endParaRPr lang="en-US" sz="900" dirty="0"/>
          </a:p>
        </p:txBody>
      </p:sp>
      <p:sp>
        <p:nvSpPr>
          <p:cNvPr id="54" name="Text 50"/>
          <p:cNvSpPr/>
          <p:nvPr/>
        </p:nvSpPr>
        <p:spPr>
          <a:xfrm>
            <a:off x="6309360" y="2340864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 Глубокая персонализация</a:t>
            </a:r>
            <a:endParaRPr lang="en-US" sz="900" dirty="0"/>
          </a:p>
        </p:txBody>
      </p:sp>
      <p:sp>
        <p:nvSpPr>
          <p:cNvPr id="55" name="Text 51"/>
          <p:cNvSpPr/>
          <p:nvPr/>
        </p:nvSpPr>
        <p:spPr>
          <a:xfrm>
            <a:off x="6309360" y="2587752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 Watchlist ∞</a:t>
            </a:r>
            <a:endParaRPr lang="en-US" sz="900" dirty="0"/>
          </a:p>
        </p:txBody>
      </p:sp>
      <p:sp>
        <p:nvSpPr>
          <p:cNvPr id="56" name="Text 52"/>
          <p:cNvSpPr/>
          <p:nvPr/>
        </p:nvSpPr>
        <p:spPr>
          <a:xfrm>
            <a:off x="6309360" y="2834640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 Срочные уведомления</a:t>
            </a:r>
            <a:endParaRPr lang="en-US" sz="900" dirty="0"/>
          </a:p>
        </p:txBody>
      </p:sp>
      <p:sp>
        <p:nvSpPr>
          <p:cNvPr id="57" name="Text 53"/>
          <p:cNvSpPr/>
          <p:nvPr/>
        </p:nvSpPr>
        <p:spPr>
          <a:xfrm>
            <a:off x="6309360" y="3081528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 Экспорт PDF</a:t>
            </a:r>
            <a:endParaRPr lang="en-US" sz="900" dirty="0"/>
          </a:p>
        </p:txBody>
      </p:sp>
      <p:sp>
        <p:nvSpPr>
          <p:cNvPr id="58" name="Text 54"/>
          <p:cNvSpPr/>
          <p:nvPr/>
        </p:nvSpPr>
        <p:spPr>
          <a:xfrm>
            <a:off x="365760" y="3456432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3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дней Standard бесплатно (без карты)</a:t>
            </a:r>
            <a:endParaRPr lang="en-US" sz="900" dirty="0"/>
          </a:p>
        </p:txBody>
      </p:sp>
      <p:sp>
        <p:nvSpPr>
          <p:cNvPr id="59" name="Text 55"/>
          <p:cNvSpPr/>
          <p:nvPr/>
        </p:nvSpPr>
        <p:spPr>
          <a:xfrm>
            <a:off x="365760" y="37490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3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ЮНИТ-ЭКОНОМИКА (12 МЕС.)</a:t>
            </a:r>
            <a:endParaRPr lang="en-US" sz="1000" dirty="0"/>
          </a:p>
        </p:txBody>
      </p:sp>
      <p:sp>
        <p:nvSpPr>
          <p:cNvPr id="60" name="Shape 56"/>
          <p:cNvSpPr/>
          <p:nvPr/>
        </p:nvSpPr>
        <p:spPr>
          <a:xfrm>
            <a:off x="365760" y="4069080"/>
            <a:ext cx="1965960" cy="777240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61" name="Text 57"/>
          <p:cNvSpPr/>
          <p:nvPr/>
        </p:nvSpPr>
        <p:spPr>
          <a:xfrm>
            <a:off x="365760" y="4096512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3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2.5М ₽</a:t>
            </a:r>
            <a:endParaRPr lang="en-US" sz="1800" dirty="0"/>
          </a:p>
        </p:txBody>
      </p:sp>
      <p:sp>
        <p:nvSpPr>
          <p:cNvPr id="62" name="Text 58"/>
          <p:cNvSpPr/>
          <p:nvPr/>
        </p:nvSpPr>
        <p:spPr>
          <a:xfrm>
            <a:off x="365760" y="446227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</a:t>
            </a:r>
            <a:endParaRPr lang="en-US" sz="900" dirty="0"/>
          </a:p>
        </p:txBody>
      </p:sp>
      <p:sp>
        <p:nvSpPr>
          <p:cNvPr id="63" name="Shape 59"/>
          <p:cNvSpPr/>
          <p:nvPr/>
        </p:nvSpPr>
        <p:spPr>
          <a:xfrm>
            <a:off x="2514600" y="4069080"/>
            <a:ext cx="1965960" cy="777240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64" name="Text 60"/>
          <p:cNvSpPr/>
          <p:nvPr/>
        </p:nvSpPr>
        <p:spPr>
          <a:xfrm>
            <a:off x="2514600" y="4096512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3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30М ₽</a:t>
            </a:r>
            <a:endParaRPr lang="en-US" sz="1800" dirty="0"/>
          </a:p>
        </p:txBody>
      </p:sp>
      <p:sp>
        <p:nvSpPr>
          <p:cNvPr id="65" name="Text 61"/>
          <p:cNvSpPr/>
          <p:nvPr/>
        </p:nvSpPr>
        <p:spPr>
          <a:xfrm>
            <a:off x="2514600" y="446227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</a:t>
            </a:r>
            <a:endParaRPr lang="en-US" sz="900" dirty="0"/>
          </a:p>
        </p:txBody>
      </p:sp>
      <p:sp>
        <p:nvSpPr>
          <p:cNvPr id="66" name="Shape 62"/>
          <p:cNvSpPr/>
          <p:nvPr/>
        </p:nvSpPr>
        <p:spPr>
          <a:xfrm>
            <a:off x="4663440" y="4069080"/>
            <a:ext cx="1965960" cy="777240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67" name="Text 63"/>
          <p:cNvSpPr/>
          <p:nvPr/>
        </p:nvSpPr>
        <p:spPr>
          <a:xfrm>
            <a:off x="4663440" y="4096512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3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~33x</a:t>
            </a:r>
            <a:endParaRPr lang="en-US" sz="1800" dirty="0"/>
          </a:p>
        </p:txBody>
      </p:sp>
      <p:sp>
        <p:nvSpPr>
          <p:cNvPr id="68" name="Text 64"/>
          <p:cNvSpPr/>
          <p:nvPr/>
        </p:nvSpPr>
        <p:spPr>
          <a:xfrm>
            <a:off x="4663440" y="446227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LTV/CAC</a:t>
            </a:r>
            <a:endParaRPr lang="en-US" sz="900" dirty="0"/>
          </a:p>
        </p:txBody>
      </p:sp>
      <p:sp>
        <p:nvSpPr>
          <p:cNvPr id="69" name="Shape 65"/>
          <p:cNvSpPr/>
          <p:nvPr/>
        </p:nvSpPr>
        <p:spPr>
          <a:xfrm>
            <a:off x="6812280" y="4069080"/>
            <a:ext cx="1965960" cy="777240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70" name="Text 66"/>
          <p:cNvSpPr/>
          <p:nvPr/>
        </p:nvSpPr>
        <p:spPr>
          <a:xfrm>
            <a:off x="6812280" y="4096512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3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~1 500 ₽</a:t>
            </a:r>
            <a:endParaRPr lang="en-US" sz="1800" dirty="0"/>
          </a:p>
        </p:txBody>
      </p:sp>
      <p:sp>
        <p:nvSpPr>
          <p:cNvPr id="71" name="Text 67"/>
          <p:cNvSpPr/>
          <p:nvPr/>
        </p:nvSpPr>
        <p:spPr>
          <a:xfrm>
            <a:off x="6812280" y="446227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</a:t>
            </a:r>
            <a:endParaRPr lang="en-US" sz="900" dirty="0"/>
          </a:p>
        </p:txBody>
      </p:sp>
      <p:sp>
        <p:nvSpPr>
          <p:cNvPr id="72" name="Text 68"/>
          <p:cNvSpPr/>
          <p:nvPr/>
        </p:nvSpPr>
        <p:spPr>
          <a:xfrm>
            <a:off x="365760" y="484632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OpEx MVP: ~60 000 ₽/мес  (YandexGPT 30К + Yandex Cloud 25К + Firebase/Sentry 5К)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NewsCore AI — Персонализированный AI-дайджест деловых новостей</dc:title>
  <dc:subject>PptxGenJS Presentation</dc:subject>
  <dc:creator>Maria Makhmudova</dc:creator>
  <cp:lastModifiedBy>Maria Makhmudova</cp:lastModifiedBy>
  <cp:revision>1</cp:revision>
  <dcterms:created xsi:type="dcterms:W3CDTF">2026-04-07T17:52:01Z</dcterms:created>
  <dcterms:modified xsi:type="dcterms:W3CDTF">2026-04-07T17:52:01Z</dcterms:modified>
</cp:coreProperties>
</file>
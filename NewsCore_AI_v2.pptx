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20440" y="457200"/>
            <a:ext cx="2103120" cy="2103120"/>
          </a:xfrm>
          <a:prstGeom prst="oval">
            <a:avLst/>
          </a:prstGeom>
          <a:solidFill>
            <a:srgbClr val="000000"/>
          </a:solidFill>
          <a:ln w="25400">
            <a:solidFill>
              <a:srgbClr val="C3FF0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251960" y="1188720"/>
            <a:ext cx="640080" cy="640080"/>
          </a:xfrm>
          <a:prstGeom prst="oval">
            <a:avLst/>
          </a:prstGeom>
          <a:solidFill>
            <a:srgbClr val="C3FF00"/>
          </a:solidFill>
          <a:ln w="12700">
            <a:solidFill>
              <a:srgbClr val="C3FF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520440" y="1508760"/>
            <a:ext cx="2103120" cy="0"/>
          </a:xfrm>
          <a:prstGeom prst="line">
            <a:avLst/>
          </a:prstGeom>
          <a:noFill/>
          <a:ln w="6350">
            <a:solidFill>
              <a:srgbClr val="C3FF0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0" y="457200"/>
            <a:ext cx="0" cy="2103120"/>
          </a:xfrm>
          <a:prstGeom prst="line">
            <a:avLst/>
          </a:prstGeom>
          <a:noFill/>
          <a:ln w="6350">
            <a:solidFill>
              <a:srgbClr val="C3F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520440" y="4572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NEWSCORE AI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7269480" y="2697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персонализированный ai-дайджест деловых новостей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828800" y="4023360"/>
            <a:ext cx="54864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Евразийское рейтинговое агентство  ×  ИТМО ФТМИ  //  апрель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109728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5760" y="914400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914400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68512" y="914400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778240" y="914400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" y="1719072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1828800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68512" y="1828800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0" y="1719072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932688"/>
            <a:ext cx="7955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новостного потока — шум, кликбейт, повторы.</a:t>
            </a:r>
            <a:endParaRPr lang="en-US" sz="3400" dirty="0"/>
          </a:p>
        </p:txBody>
      </p:sp>
      <p:sp>
        <p:nvSpPr>
          <p:cNvPr id="17" name="Shape 13"/>
          <p:cNvSpPr/>
          <p:nvPr/>
        </p:nvSpPr>
        <p:spPr>
          <a:xfrm>
            <a:off x="365760" y="2011680"/>
            <a:ext cx="26517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011680"/>
            <a:ext cx="54864" cy="155448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9" name="Text 15"/>
          <p:cNvSpPr/>
          <p:nvPr/>
        </p:nvSpPr>
        <p:spPr>
          <a:xfrm>
            <a:off x="530352" y="208483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~2.5ч/день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530352" y="26517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тратит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чтение новостей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0" y="2011680"/>
            <a:ext cx="26517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00400" y="2011680"/>
            <a:ext cx="54864" cy="1554480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23" name="Text 19"/>
          <p:cNvSpPr/>
          <p:nvPr/>
        </p:nvSpPr>
        <p:spPr>
          <a:xfrm>
            <a:off x="3364992" y="208483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3364992" y="26517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деловых людей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недовольны агрегаторами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35040" y="2011680"/>
            <a:ext cx="26517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35040" y="2011680"/>
            <a:ext cx="54864" cy="155448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7" name="Text 23"/>
          <p:cNvSpPr/>
          <p:nvPr/>
        </p:nvSpPr>
        <p:spPr>
          <a:xfrm>
            <a:off x="6199632" y="208483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млн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6199632" y="26517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деловых медиа в РФ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Как за 10 минут получить всё важное за день — без лишнего?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100584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960120"/>
            <a:ext cx="256032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ИСТОЧНИКИ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РБК, Forbes,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РИА, Ведомости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источников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017520" y="1874520"/>
            <a:ext cx="320040" cy="0"/>
          </a:xfrm>
          <a:prstGeom prst="line">
            <a:avLst/>
          </a:prstGeom>
          <a:noFill/>
          <a:ln w="25400">
            <a:solidFill>
              <a:srgbClr val="C3FF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91840" y="171907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383280" y="960120"/>
            <a:ext cx="2560320" cy="182880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0" y="960120"/>
            <a:ext cx="2560320" cy="5486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4" name="Text 10"/>
          <p:cNvSpPr/>
          <p:nvPr/>
        </p:nvSpPr>
        <p:spPr>
          <a:xfrm>
            <a:off x="352044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AI-ЯДРО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→ Очистка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Суммаризация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Классификация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1874520"/>
            <a:ext cx="320040" cy="0"/>
          </a:xfrm>
          <a:prstGeom prst="line">
            <a:avLst/>
          </a:prstGeom>
          <a:noFill/>
          <a:ln w="25400">
            <a:solidFill>
              <a:srgbClr val="C3FF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171907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309360" y="960120"/>
            <a:ext cx="256032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ДАЙДЖЕСТ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Персонализированный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фид за 10 мин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утро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КАТЕГОРИЙ КОНТЕНТА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3383280"/>
            <a:ext cx="160020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3383280"/>
            <a:ext cx="160020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4" name="Text 20"/>
          <p:cNvSpPr/>
          <p:nvPr/>
        </p:nvSpPr>
        <p:spPr>
          <a:xfrm>
            <a:off x="566928" y="34930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рейтинги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194560" y="3383280"/>
            <a:ext cx="160020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194560" y="3383280"/>
            <a:ext cx="1600200" cy="45720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27" name="Text 23"/>
          <p:cNvSpPr/>
          <p:nvPr/>
        </p:nvSpPr>
        <p:spPr>
          <a:xfrm>
            <a:off x="2304288" y="34930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мнения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931920" y="3383280"/>
            <a:ext cx="160020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931920" y="3383280"/>
            <a:ext cx="160020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30" name="Text 26"/>
          <p:cNvSpPr/>
          <p:nvPr/>
        </p:nvSpPr>
        <p:spPr>
          <a:xfrm>
            <a:off x="4041648" y="34930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Регуляторика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669280" y="3383280"/>
            <a:ext cx="160020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669280" y="3383280"/>
            <a:ext cx="1600200" cy="45720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33" name="Text 29"/>
          <p:cNvSpPr/>
          <p:nvPr/>
        </p:nvSpPr>
        <p:spPr>
          <a:xfrm>
            <a:off x="5779008" y="34930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рынка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406640" y="3383280"/>
            <a:ext cx="160020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06640" y="3383280"/>
            <a:ext cx="160020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36" name="Text 32"/>
          <p:cNvSpPr/>
          <p:nvPr/>
        </p:nvSpPr>
        <p:spPr>
          <a:xfrm>
            <a:off x="7516368" y="34930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валюта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201168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МОБИЛЬНОЕ ПРИЛОЖЕНИЕ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65760" y="1170432"/>
            <a:ext cx="411480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1170432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1170432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0" y="1170432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80560" y="1170432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1719072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1810512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89120" y="1810512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80560" y="1719072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1216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— одна кодовая база iOS + Android.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MVP, широкий рынок JS-разработчиков.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 15+  →  ~95% активных iPhone     Android 10+  →  ~88% устройств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STACK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2606040"/>
            <a:ext cx="125272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260604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Native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728216" y="2606040"/>
            <a:ext cx="86410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728216" y="260604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702052" y="2606040"/>
            <a:ext cx="1097280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02052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65760" y="2990088"/>
            <a:ext cx="708660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2990088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184148" y="2990088"/>
            <a:ext cx="1330452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FF2D6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84148" y="2990088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624328" y="2990088"/>
            <a:ext cx="786384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FF2D6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624328" y="299008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65760" y="3374136"/>
            <a:ext cx="125272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65760" y="337413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+ K8s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1728216" y="3374136"/>
            <a:ext cx="1408176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728216" y="337413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3246120" y="3374136"/>
            <a:ext cx="125272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FF2D6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46120" y="337413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Yandex Cloud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65760" y="3758184"/>
            <a:ext cx="941832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FF2D6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65760" y="375818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417320" y="3758184"/>
            <a:ext cx="86410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C3FF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417320" y="3758184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4846320" y="868680"/>
            <a:ext cx="0" cy="402336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029200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ML ЯДРО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029200" y="1207008"/>
            <a:ext cx="374904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029200" y="1207008"/>
            <a:ext cx="54864" cy="69494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46" name="Text 42"/>
          <p:cNvSpPr/>
          <p:nvPr/>
        </p:nvSpPr>
        <p:spPr>
          <a:xfrm>
            <a:off x="5230368" y="1261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YandexGPT Pro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230368" y="15361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суммаризация  //  РФ-рынок, цены в ₽, без санкц. рисков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5029200" y="2002536"/>
            <a:ext cx="374904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5029200" y="2002536"/>
            <a:ext cx="54864" cy="694944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50" name="Text 46"/>
          <p:cNvSpPr/>
          <p:nvPr/>
        </p:nvSpPr>
        <p:spPr>
          <a:xfrm>
            <a:off x="5230368" y="20574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ruBERT (ONNX)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230368" y="23317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→5 кат.  //  Точность &gt;92% на рус. тексте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5029200" y="2798064"/>
            <a:ext cx="374904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029200" y="2798064"/>
            <a:ext cx="54864" cy="69494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54" name="Text 50"/>
          <p:cNvSpPr/>
          <p:nvPr/>
        </p:nvSpPr>
        <p:spPr>
          <a:xfrm>
            <a:off x="5230368" y="28529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natasha + slovnet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5230368" y="31272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сущностей  //  Орг., персоны, тикеры, регионы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5029200" y="3593592"/>
            <a:ext cx="374904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029200" y="3593592"/>
            <a:ext cx="54864" cy="694944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58" name="Text 54"/>
          <p:cNvSpPr/>
          <p:nvPr/>
        </p:nvSpPr>
        <p:spPr>
          <a:xfrm>
            <a:off x="5230368" y="36484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5230368" y="392277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scoring  //  Быстрый инференс без GPU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AI-ПАЙПЛАЙН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109728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Text 3"/>
          <p:cNvSpPr/>
          <p:nvPr/>
        </p:nvSpPr>
        <p:spPr>
          <a:xfrm>
            <a:off x="1188720" y="749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обработка одной статьи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0040" y="1005840"/>
            <a:ext cx="109728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20040" y="1005840"/>
            <a:ext cx="109728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ПАРСИНГ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20040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feedparser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417320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490472" y="1005840"/>
            <a:ext cx="109728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90472" y="1005840"/>
            <a:ext cx="109728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2"/>
          <p:cNvSpPr/>
          <p:nvPr/>
        </p:nvSpPr>
        <p:spPr>
          <a:xfrm>
            <a:off x="1490472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490472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ОЧИСТКА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490472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trafilatura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87752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660904" y="1005840"/>
            <a:ext cx="1097280" cy="256032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60904" y="1005840"/>
            <a:ext cx="109728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2" name="Text 18"/>
          <p:cNvSpPr/>
          <p:nvPr/>
        </p:nvSpPr>
        <p:spPr>
          <a:xfrm>
            <a:off x="2660904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660904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СУММАРИЗАЦИЯ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660904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YandexGPT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API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758184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831336" y="1005840"/>
            <a:ext cx="1097280" cy="2560320"/>
          </a:xfrm>
          <a:prstGeom prst="rect">
            <a:avLst/>
          </a:prstGeom>
          <a:solidFill>
            <a:srgbClr val="1A0010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831336" y="1005840"/>
            <a:ext cx="1097280" cy="45720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28" name="Text 24"/>
          <p:cNvSpPr/>
          <p:nvPr/>
        </p:nvSpPr>
        <p:spPr>
          <a:xfrm>
            <a:off x="3831336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831336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2D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КЛАССИФИКАЦИЯ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28616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001768" y="1005840"/>
            <a:ext cx="1097280" cy="256032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001768" y="1005840"/>
            <a:ext cx="109728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34" name="Text 30"/>
          <p:cNvSpPr/>
          <p:nvPr/>
        </p:nvSpPr>
        <p:spPr>
          <a:xfrm>
            <a:off x="5001768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01768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001768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natasha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slovnet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099048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172200" y="1005840"/>
            <a:ext cx="109728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172200" y="1005840"/>
            <a:ext cx="109728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6"/>
          <p:cNvSpPr/>
          <p:nvPr/>
        </p:nvSpPr>
        <p:spPr>
          <a:xfrm>
            <a:off x="6172200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172200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6172200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0.0–1.0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269480" y="21488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7342632" y="1005840"/>
            <a:ext cx="109728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42632" y="1005840"/>
            <a:ext cx="109728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42"/>
          <p:cNvSpPr/>
          <p:nvPr/>
        </p:nvSpPr>
        <p:spPr>
          <a:xfrm>
            <a:off x="7342632" y="1078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7342632" y="1417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БД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7342632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cache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320040" y="3749040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65760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&gt;92%</a:t>
            </a:r>
            <a:endParaRPr lang="en-US" sz="1800" dirty="0"/>
          </a:p>
        </p:txBody>
      </p:sp>
      <p:sp>
        <p:nvSpPr>
          <p:cNvPr id="51" name="Text 47"/>
          <p:cNvSpPr/>
          <p:nvPr/>
        </p:nvSpPr>
        <p:spPr>
          <a:xfrm>
            <a:off x="365760" y="42793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классификации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2075688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&lt;8 сек</a:t>
            </a:r>
            <a:endParaRPr lang="en-US" sz="1800" dirty="0"/>
          </a:p>
        </p:txBody>
      </p:sp>
      <p:sp>
        <p:nvSpPr>
          <p:cNvPr id="53" name="Text 49"/>
          <p:cNvSpPr/>
          <p:nvPr/>
        </p:nvSpPr>
        <p:spPr>
          <a:xfrm>
            <a:off x="2075688" y="42793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статьи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3785616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&gt;0.45</a:t>
            </a:r>
            <a:endParaRPr lang="en-US" sz="1800" dirty="0"/>
          </a:p>
        </p:txBody>
      </p:sp>
      <p:sp>
        <p:nvSpPr>
          <p:cNvPr id="55" name="Text 51"/>
          <p:cNvSpPr/>
          <p:nvPr/>
        </p:nvSpPr>
        <p:spPr>
          <a:xfrm>
            <a:off x="3785616" y="42793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полнота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495544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&lt;1%</a:t>
            </a:r>
            <a:endParaRPr lang="en-US" sz="1800" dirty="0"/>
          </a:p>
        </p:txBody>
      </p:sp>
      <p:sp>
        <p:nvSpPr>
          <p:cNvPr id="57" name="Text 53"/>
          <p:cNvSpPr/>
          <p:nvPr/>
        </p:nvSpPr>
        <p:spPr>
          <a:xfrm>
            <a:off x="5495544" y="42793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суммаризации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7205472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99.5%</a:t>
            </a:r>
            <a:endParaRPr lang="en-US" sz="1800" dirty="0"/>
          </a:p>
        </p:txBody>
      </p:sp>
      <p:sp>
        <p:nvSpPr>
          <p:cNvPr id="59" name="Text 55"/>
          <p:cNvSpPr/>
          <p:nvPr/>
        </p:nvSpPr>
        <p:spPr>
          <a:xfrm>
            <a:off x="7205472" y="42793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И КОНКУРЕНТЫ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169164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932688"/>
            <a:ext cx="265176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5760" y="93268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932688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07792" y="93268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17520" y="932688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" y="2011680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212140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07792" y="212140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017520" y="2011680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1005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0352" y="12618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 млрд ₽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30352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деловых цифровых медиа РФ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246120" y="932688"/>
            <a:ext cx="265176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46120" y="93268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46120" y="932688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88152" y="93268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97880" y="932688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46120" y="2011680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46120" y="212140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88152" y="2121408"/>
            <a:ext cx="109728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897880" y="2011680"/>
            <a:ext cx="0" cy="109728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10712" y="1005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410712" y="12618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 млрд ₽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3410712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подписки на деловой контент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126480" y="932688"/>
            <a:ext cx="265176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126480" y="932688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26480" y="932688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668512" y="932688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778240" y="932688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26480" y="2011680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126480" y="2121408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668512" y="2121408"/>
            <a:ext cx="109728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778240" y="2011680"/>
            <a:ext cx="0" cy="109728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91072" y="1005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291072" y="12618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млн ₽</a:t>
            </a:r>
            <a:endParaRPr lang="en-US" sz="2200" dirty="0"/>
          </a:p>
        </p:txBody>
      </p:sp>
      <p:sp>
        <p:nvSpPr>
          <p:cNvPr id="42" name="Text 38"/>
          <p:cNvSpPr/>
          <p:nvPr/>
        </p:nvSpPr>
        <p:spPr>
          <a:xfrm>
            <a:off x="6291072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3 лет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65760" y="2286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КОНКУРЕНТНЫЙ АНАЛИЗ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365760" y="2578608"/>
            <a:ext cx="8412480" cy="32004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45" name="Text 41"/>
          <p:cNvSpPr/>
          <p:nvPr/>
        </p:nvSpPr>
        <p:spPr>
          <a:xfrm>
            <a:off x="50292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251460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AI-СУММАРИЗАЦИЯ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25196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ПЕРСОНАЛИЗАЦИЯ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989320" y="2578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ФОКУС РФ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178040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ЦЕНА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65760" y="2898648"/>
            <a:ext cx="8412480" cy="374904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65760" y="2898648"/>
            <a:ext cx="54864" cy="37490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52" name="Text 48"/>
          <p:cNvSpPr/>
          <p:nvPr/>
        </p:nvSpPr>
        <p:spPr>
          <a:xfrm>
            <a:off x="502920" y="289864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NewsCore AI ★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2514600" y="289864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4251960" y="289864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глубокая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5989320" y="28986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178040" y="2898648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тыс. ₽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365760" y="3282696"/>
            <a:ext cx="8412480" cy="37490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Text 54"/>
          <p:cNvSpPr/>
          <p:nvPr/>
        </p:nvSpPr>
        <p:spPr>
          <a:xfrm>
            <a:off x="502920" y="3282696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РБК Premium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2514600" y="3282696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4251960" y="3282696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5989320" y="328269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178040" y="3282696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365760" y="3666744"/>
            <a:ext cx="8412480" cy="3749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Text 60"/>
          <p:cNvSpPr/>
          <p:nvPr/>
        </p:nvSpPr>
        <p:spPr>
          <a:xfrm>
            <a:off x="502920" y="366674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Яндекс.Новости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2514600" y="3666744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4251960" y="3666744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частичная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5989320" y="366674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7178040" y="3666744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365760" y="4050792"/>
            <a:ext cx="8412480" cy="37490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0" name="Text 66"/>
          <p:cNvSpPr/>
          <p:nvPr/>
        </p:nvSpPr>
        <p:spPr>
          <a:xfrm>
            <a:off x="502920" y="4050792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2514600" y="4050792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4251960" y="4050792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5989320" y="405079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7178040" y="4050792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~$40/мес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365760" y="4434840"/>
            <a:ext cx="8412480" cy="3749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6" name="Text 72"/>
          <p:cNvSpPr/>
          <p:nvPr/>
        </p:nvSpPr>
        <p:spPr>
          <a:xfrm>
            <a:off x="502920" y="4434840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Reading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2514600" y="4434840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(книги)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4251960" y="4434840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5989320" y="443484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900" dirty="0"/>
          </a:p>
        </p:txBody>
      </p:sp>
      <p:sp>
        <p:nvSpPr>
          <p:cNvPr id="80" name="Text 76"/>
          <p:cNvSpPr/>
          <p:nvPr/>
        </p:nvSpPr>
        <p:spPr>
          <a:xfrm>
            <a:off x="7178040" y="4434840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18872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МОНЕТИЗАЦИЯ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188720" y="704088"/>
            <a:ext cx="1097280" cy="36576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914400"/>
            <a:ext cx="2743200" cy="2834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5"/>
          <p:cNvSpPr/>
          <p:nvPr/>
        </p:nvSpPr>
        <p:spPr>
          <a:xfrm>
            <a:off x="530352" y="102412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" y="13167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₽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30352" y="1810512"/>
            <a:ext cx="2286000" cy="0"/>
          </a:xfrm>
          <a:prstGeom prst="line">
            <a:avLst/>
          </a:prstGeom>
          <a:noFill/>
          <a:ln w="508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1874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1 категория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30352" y="2130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5 новостей / день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30352" y="2386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Архив 3 дня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91840" y="914400"/>
            <a:ext cx="2743200" cy="283464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91840" y="914400"/>
            <a:ext cx="2743200" cy="5486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7" name="Text 13"/>
          <p:cNvSpPr/>
          <p:nvPr/>
        </p:nvSpPr>
        <p:spPr>
          <a:xfrm>
            <a:off x="3456432" y="102412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56432" y="13167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2 000 ₽/мес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456432" y="1810512"/>
            <a:ext cx="2286000" cy="0"/>
          </a:xfrm>
          <a:prstGeom prst="line">
            <a:avLst/>
          </a:prstGeom>
          <a:noFill/>
          <a:ln w="5080">
            <a:solidFill>
              <a:srgbClr val="C3FF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56432" y="1874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5 категорий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456432" y="2130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Без лимита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456432" y="2386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Архив 30 дней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456432" y="26426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Персонализация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456432" y="28986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Watchlist до 5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217920" y="914400"/>
            <a:ext cx="2743200" cy="2834640"/>
          </a:xfrm>
          <a:prstGeom prst="rect">
            <a:avLst/>
          </a:prstGeom>
          <a:solidFill>
            <a:srgbClr val="1A0010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27" name="Text 23"/>
          <p:cNvSpPr/>
          <p:nvPr/>
        </p:nvSpPr>
        <p:spPr>
          <a:xfrm>
            <a:off x="6382512" y="102412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382512" y="13167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3 000 ₽/мес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6382512" y="1810512"/>
            <a:ext cx="2286000" cy="0"/>
          </a:xfrm>
          <a:prstGeom prst="line">
            <a:avLst/>
          </a:prstGeom>
          <a:noFill/>
          <a:ln w="5080">
            <a:solidFill>
              <a:srgbClr val="FF2D6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382512" y="1874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5 категорий + кастом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382512" y="2130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Без лимита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82512" y="2386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Архив 1 год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382512" y="26426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ML-персонализация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6382512" y="28986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Watchlist ∞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382512" y="315468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Экспорт PDF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36576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7 дней Standard бесплатно, без карты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365760" y="41330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ЮНИТ-ЭКОНОМИКА @ 1000 КЛИЕНТОВ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65760" y="4453128"/>
            <a:ext cx="201168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5488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2.5М ₽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1755648" y="4526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2514600" y="4453128"/>
            <a:ext cx="201168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624328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30М ₽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3904488" y="4526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663440" y="4453128"/>
            <a:ext cx="201168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~33x</a:t>
            </a:r>
            <a:endParaRPr lang="en-US" sz="1800" dirty="0"/>
          </a:p>
        </p:txBody>
      </p:sp>
      <p:sp>
        <p:nvSpPr>
          <p:cNvPr id="46" name="Text 42"/>
          <p:cNvSpPr/>
          <p:nvPr/>
        </p:nvSpPr>
        <p:spPr>
          <a:xfrm>
            <a:off x="6053328" y="4526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6812280" y="4453128"/>
            <a:ext cx="201168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922008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~60К ₽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8202168" y="4526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OpEx/мес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NEWSCORE AI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готов к разработке MVP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371600" y="1691640"/>
            <a:ext cx="6400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5760" y="1874520"/>
            <a:ext cx="2697480" cy="246888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1874520"/>
            <a:ext cx="2697480" cy="5486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0" name="Shape 6"/>
          <p:cNvSpPr/>
          <p:nvPr/>
        </p:nvSpPr>
        <p:spPr>
          <a:xfrm>
            <a:off x="365760" y="187452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87452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71800" y="187452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63240" y="187452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425196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434340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71800" y="434340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63240" y="425196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0352" y="199339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ТЕХНИЧЕСКИ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" y="2395728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готов.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React Native.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YandexGPT Pro — нет санкционных рисков.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→ Yandex Cloud + K8s.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46120" y="1874520"/>
            <a:ext cx="2697480" cy="2468880"/>
          </a:xfrm>
          <a:prstGeom prst="rect">
            <a:avLst/>
          </a:prstGeom>
          <a:solidFill>
            <a:srgbClr val="1A0010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46120" y="1874520"/>
            <a:ext cx="2697480" cy="54864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22" name="Shape 18"/>
          <p:cNvSpPr/>
          <p:nvPr/>
        </p:nvSpPr>
        <p:spPr>
          <a:xfrm>
            <a:off x="3246120" y="1874520"/>
            <a:ext cx="91440" cy="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46120" y="1874520"/>
            <a:ext cx="0" cy="9144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852160" y="1874520"/>
            <a:ext cx="91440" cy="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0" y="1874520"/>
            <a:ext cx="0" cy="9144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46120" y="4251960"/>
            <a:ext cx="0" cy="9144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46120" y="4343400"/>
            <a:ext cx="91440" cy="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52160" y="4343400"/>
            <a:ext cx="91440" cy="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43600" y="4251960"/>
            <a:ext cx="0" cy="91440"/>
          </a:xfrm>
          <a:prstGeom prst="line">
            <a:avLst/>
          </a:prstGeom>
          <a:noFill/>
          <a:ln w="22860">
            <a:solidFill>
              <a:srgbClr val="FF2D6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10712" y="199339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410712" y="2395728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Standard (2К) → Pro (3К).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Team / Enterprise.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дней триала без карты.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~33x при churn 5%.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126480" y="1874520"/>
            <a:ext cx="2697480" cy="2468880"/>
          </a:xfrm>
          <a:prstGeom prst="rect">
            <a:avLst/>
          </a:prstGeom>
          <a:solidFill>
            <a:srgbClr val="0D1A00"/>
          </a:solidFill>
          <a:ln w="6350">
            <a:solidFill>
              <a:srgbClr val="C3FF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26480" y="1874520"/>
            <a:ext cx="2697480" cy="54864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34" name="Shape 30"/>
          <p:cNvSpPr/>
          <p:nvPr/>
        </p:nvSpPr>
        <p:spPr>
          <a:xfrm>
            <a:off x="6126480" y="187452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126480" y="187452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732520" y="187452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823960" y="187452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126480" y="425196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126480" y="434340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732520" y="4343400"/>
            <a:ext cx="91440" cy="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823960" y="4251960"/>
            <a:ext cx="0" cy="91440"/>
          </a:xfrm>
          <a:prstGeom prst="line">
            <a:avLst/>
          </a:prstGeom>
          <a:noFill/>
          <a:ln w="22860">
            <a:solidFill>
              <a:srgbClr val="C3FF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91072" y="199339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ПАРТНЁРСТВО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6291072" y="2395728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Евразийское РА — уникальный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экспертный контент.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ФТМИ — академическая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и ресурсы.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makhmudovamaria25@gmail.com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NewsCore AI</dc:title>
  <dc:subject>PptxGenJS Presentation</dc:subject>
  <dc:creator>Maria Makhmudova</dc:creator>
  <cp:lastModifiedBy>Maria Makhmudova</cp:lastModifiedBy>
  <cp:revision>1</cp:revision>
  <dcterms:created xsi:type="dcterms:W3CDTF">2026-04-07T18:13:01Z</dcterms:created>
  <dcterms:modified xsi:type="dcterms:W3CDTF">2026-04-07T18:13:01Z</dcterms:modified>
</cp:coreProperties>
</file>